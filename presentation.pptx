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2"/>
  </p:notesMasterIdLst>
  <p:sldIdLst>
    <p:sldId id="288" r:id="rId2"/>
    <p:sldId id="299" r:id="rId3"/>
    <p:sldId id="257" r:id="rId4"/>
    <p:sldId id="259" r:id="rId5"/>
    <p:sldId id="290" r:id="rId6"/>
    <p:sldId id="260" r:id="rId7"/>
    <p:sldId id="261" r:id="rId8"/>
    <p:sldId id="298" r:id="rId9"/>
    <p:sldId id="262" r:id="rId10"/>
    <p:sldId id="291" r:id="rId11"/>
    <p:sldId id="263" r:id="rId12"/>
    <p:sldId id="264" r:id="rId13"/>
    <p:sldId id="267" r:id="rId14"/>
    <p:sldId id="265" r:id="rId15"/>
    <p:sldId id="266" r:id="rId16"/>
    <p:sldId id="270" r:id="rId17"/>
    <p:sldId id="268" r:id="rId18"/>
    <p:sldId id="271" r:id="rId19"/>
    <p:sldId id="272" r:id="rId20"/>
    <p:sldId id="273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E5EF"/>
    <a:srgbClr val="000000"/>
    <a:srgbClr val="DAF1F6"/>
    <a:srgbClr val="B7D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4" autoAdjust="0"/>
    <p:restoredTop sz="82048" autoAdjust="0"/>
  </p:normalViewPr>
  <p:slideViewPr>
    <p:cSldViewPr snapToGrid="0" snapToObjects="1">
      <p:cViewPr varScale="1">
        <p:scale>
          <a:sx n="70" d="100"/>
          <a:sy n="70" d="100"/>
        </p:scale>
        <p:origin x="58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832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 I will present my work on Interpretable Asymmetry Modeling for Post-Stroke Hemiparesis: Laterality Prediction using Minimal Kinematic Features.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goal is to automatically detect and quantify the asymmetric walking patterns caused by hemiparesis, and to identify the affected side — using only body-worn inertial sensors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131BE7-8788-4FB2-8EC1-FAC51B6F99A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694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82FA3-338F-DB4F-4BA3-0A50B5E9E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AF2A7F-365C-9148-D4D0-75DBD4DE00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4F801C-16A5-4552-0F08-15C6682DF0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is the plan for this presentation. I will begin with the clinical context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motivation, then walk you through our complete processing pipeline: data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collection, signal preprocessing, swing phase detection, and subject-specific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calibration. I will then cover feature extraction and the AI-LR representation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designed, followed by the classification framework and results. I will close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a discussion and perspectives for future work.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7DDAC-E24D-0B43-29DD-22E4538BA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23625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Stroke is the leading cause of lifelong disability worldwide. Every year,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 million people suffer a stroke globally, and of those, 5 million are left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permanent disability. In France alone, more than 1 million individuals live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a history of stroke. A key consequence is hemiparesis — a one-sided motor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impairment — which affects nearly half of all hospitalized stroke patients: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49.1%.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Hemiparesis severely disrupts walking. It creates asymmetric gait patterns where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affected leg moves very differently from the non-paretic leg — and these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asymmetries are clinically meaningful markers of both severity and recovery.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work proposes an end-to-end pipeline using low-cost wearable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.inertial sensors to automatically characterize these asymmetries and predict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side of the body is 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diving into each component, let me give you an overview of the full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 — from raw IMU signals all the way to predicting the hemiparetic side.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[BEAT 1 — "Data Collection" box highlighted]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step is Data Collection. equipped patients with wearable IMU sensors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had them walk through standardized trials.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[BEAT 2 — "Signal Processing" box highlighted]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raw signals then go through Signal Processing: we apply low-pass filtering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remove noise, and a frame calibration to align every sensor to a common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anatomical reference.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[BEAT 3 — "Swing Detection" box highlighted]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Next, Swing Detection. We need to automatically segment the continuous signal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 individual strides.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[BEAT 4 — "Subject Calibration" box highlighted]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hemiparetic gait is highly individual, the swing detector requires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subject-specific parameters. The Subject Calibration step performs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optimization to tune those parameters for each patient.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[BEAT 5 — "Feature Extraction" box highlighted]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segmented strides, we perform Feature Extraction. We compute joint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angles and spatiotemporal metrics, and encode left-right asymmetry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[BEAT 6 — "Classification" box highlighted]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Classification. Those 18 features are fed into a machine learning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classifier to predict which side is affected.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of these steps will now be explained in detail.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6E8D8-72DC-4C2D-BCFB-E3A24B14C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050A57-1B9B-2DC0-0AA9-4B32F1FBF9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A831E9-9661-A052-918B-283A713E89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dataset includes 30 post-stroke hemiparetic patients. Of these, 26 were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successfully processed by the pipeline — 4 had to be excluded due to missing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sensor index files. Among the 26, 18 have left-side paresis and 8 have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right-side paresis.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demographic table shows that the two groups are well matched: average age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around 55 years, similar weight, height, and cognitive score as measured by the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MoCA — around 26.7 out of 30. The distribution of ischemic versus hemorrhagic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stroke is also comparable. The class imbalance — 18 left versus 8 right — is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handled explicitly in the classification step through balanced class weighting.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5C87A-B3CF-DBEF-A0AF-D3A41910A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06171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patient was equipped with 7 IMU sensors of 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Xsens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type, placed on the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waist, both thighs, both shanks, and both feet. Each sensor simultaneously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records 3-axis acceleration, gyroscope, magnetometer, and Euler angles.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protocol consisted of 4 walking trials per patient: barefoot at fast pace,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barefoot at preferred pace, with shoes at fast pace, and with shoes at preferred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pace.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any analysis, the raw signals must be cleaned. The figure on the left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shows the power spectral density of the knee gyroscope signal. You can clearly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 that all gait-relevant content — the step rate and its harmonics — falls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 1 and 9 Hz. Everything above 10 Hz is noise floor.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therefore apply a 10 Hz low-pass Butterworth filter. The result is shown 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right: a clean, smooth angular velocity signal that faithfully captures the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rhythmic pattern of gait cycles while removing measurement noise entirely.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B0053-6701-4559-79BC-470B3F9F6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BAAC84-DE67-D19B-FC19-ACE409A4CA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ECE09-E75A-B700-8BFF-3DF4E3B9D6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filtering, we address a second issue: each sensor has its own arbitrary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coordinate frame — the sensor frame — which depends on how it was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physically attached to the patient. For any meaningful cross-patient or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cross-segment comparison, all sensors must speak the same anatomical language.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perform a two-step calibration. First, we transform each sensor's output from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 local sensor frame into the body segment frame it belongs to. Then, we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further align that body frame to the global anatomical frame. This ensures that,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the knee flexion angle has a consistent meaning across all patients,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regardless of how the sensor was physically mounted.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98C13-840B-BA90-9322-3C08868FB9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083064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Gait analysis requires segmenting the continuous signal into individual strides.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do this, we designed a finite state machine — FSM — that operates on the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gravity-compensated foot acceleration, which we call the activity metric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FSM is controlled by 5 parameters: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Dh, the high threshold: the signal must exceed Dh to trigger the start of 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swing phase.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Dl, the low threshold: it must then drop below Dl to confirm the swing has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ended.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Ds, a negative threshold: the signal must also dip below Ds to confirm the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push-off phase of the previous step.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Tm, the minimum swing duration in samples, to reject short spurious peaks.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And Td, the minimum gap between two consecutive swings.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0D368-E037-CCD3-3E3B-D957E9387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CAD930-7EBC-92D3-1C29-5F23C92A79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8010D0-5E9D-0524-6C6D-7BD09F83A4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you can see the FSM applied to real data — patient 17-MA, during a barefoot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preferred-speed walk.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left in red: the affected foot acceleration norm, with shaded regions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marking the detected swing phases. On the right in blue: the non-paretic foot.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 visually, the asymmetry is striking. The affected foot shows lower, more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irregular peaks — consistent with drop foot and reduced clearance, which are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hallmarks of hemiparesis. The binary swing/stance signal below each plot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confirms that the FSM correctly detects and segments both legs independently.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44DEE-BA20-A0E4-38BC-F8A7E008A6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267743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default FSM parameters — θ₀ = [100, 30, -300, 30, 10] — work well for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healthy gait, but fail on hemiparetic patients. Hemiparetic gait features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attenuated acceleration peaks, prolonged ground contact, and highly individual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movement patterns. A single fixed parameter set simply cannot generalize.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solution is a subject-specific calibration. We use the Nelder-Mead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simplex algorithm — a gradient-free optimizer — to tune the 5 FSM parameters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each patient. Nelder-Mead is appropriate here precisely because the FSM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contains discrete threshold comparisons that create discontinuities in the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objective function landscape where gradient-based methods would fail.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objective function J(θ) minimizes the average normalized absolute error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 our FSM-detected gait parameters and those of a validated reference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system, over all N strides.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strides are segmented, we extract features. From the joint angle profiles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hip, knee, and ankle on both sides — we compute 4 metrics per joint: mean,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maximum, minimum, and range, separately for the swing and stance phases. We also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 5 spatiotemporal features per side: stride length, stride time, swing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percentage, stance percentage, and walking speed.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innovation in our approach is the AI-LR representation — the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Asymmetry Index, Lateralized. Instead of feeding raw left and right values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separately to the classifier, we encode the left-right asymmetry directly: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AI =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f_left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f_right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/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f_left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f_right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gives a signed, normalized index. A positive value means the left side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dominates; a negative value means the right side dominates. The sign directly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encodes which side is more impaired — making the feature space inherently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lateralized and physically interpretable.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final count: 5 spatiotemporal features give 5 AI-LR values, 3 joints times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metrics times 2 sides give 12 AI-LR values, plus walking speed — 18 features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 fed to the classifier.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for the classification framework. We have 26 patients — 18 left-paretic and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 right-paretic. We use balanced class weighting in all classifiers to mitigate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imbalance. We evaluate four classifiers: Logistic Regression and SVM Linear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both linear — Random Forest as a non-linear ensemble, and Gaussian Naive Bayes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a probabilistic baseline. Our metrics are balanced accuracy, MCC, and AUC.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validation scheme is Leave-One-Subject-Out Cross-Validation — LOSO-CV —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is the appropriate choice for small clinical datasets. The procedure: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1: hold out one patient as the test set.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2: on the remaining 25 patients, rank the 18 AI-LR features by Mann-Whitney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 statistic — using only training data.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3: select the top k features — here, k=2.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4: train the classifier on 25 patients with those 2 features.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5: predict the held-out patient.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6: repeat 26 times — once per patient — and aggregate all metrics.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critical design point: feature selection is performed inside the fold, 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 data only. The held-out patient never influences which features are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selected. There is no data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evaluate discriminant power, we ran a Mann-Whitney U test on all 18 AI-LR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 across the 26 patients. The bar chart shows -log10 of the p-value —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higher bar means a more statistically significant feature.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top 4 features are all kinematic: ankle minimum during swing, knee maximum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 swing, ankle maximum during swing, and ankle minimum during stance. All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 features cross the significance threshold — the dashed line at p=0.05.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important observation: spatiotemporal features such as stride length, swing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time, and stance time rank consistently lower than kinematic features. This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suggests that in this population, kinematic asymmetries — how the joints move —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 more informative than timing asymmetries alone.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two top-ranked features already show near-perfect visual separation between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left-paretic and right-paretic patients.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left violin plot: the ankle AI-LR minimum during swing is clearly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positive for left-paretic patients and clearly negative for right-paretic ones,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a Spearman correlation of r = -0.96 and p &lt; 0.0001. On the right: the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knee AI-LR maximum during swing shows the mirror behavior, with r = 0.92.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makes physiological sense. Drop foot — reduced ankle clearance on the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affected side — maps directly to the ankle feature. Stiff-knee gait — reduced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knee flexion on the affected side — maps to the knee feature. Our data-driven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 independently recovered the two primary clinical hallmarks of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hemiparesis.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did we choose k=2? We ran the full LOSO-CV for every value of k from 1 to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 and measured balanced accuracy.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result is unambiguous. Both SVM Linear and Logistic Regression peak exactly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k=2, reaching 94.4%. Beyond k=2, performance degrades monotonically as more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 are added. This tells us that the laterality signal is concentrated in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2 features — adding more introduces noise rather than information,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especially given a dataset of only 26 patients.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k=2 is therefore not an arbitrary choice — it is empirically validated as the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optimal operating point.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are the final results at k=2. Both Logistic Regression and SVM Linear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achieve 92.3% raw accuracy and 94.4% balanced accuracy, with MCC of 0.843 and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AUC of 0.979. Naive Bayes reaches 91.0% balanced accuracy, and Random Forest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81.9%.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fact that linear models outperform the non-linear Random Forest is not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surprising given what we saw in the violin plots: the AI-LR space is highly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linearly separable. Complex non-linear decision boundaries are not needed and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 likely overfit on a 26-patient dataset.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headline result: 94.4% balanced accuracy, well above chance, using only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features extracted from 7 wearable sensors.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confirm this result is not due to chance, we performed a permutation test.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randomly shuffled the patient labels 200 times and ran the full LOSO-CV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 each time, producing a null distribution of balanced accuracies.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null distribution is centered around 0.5 — chance level — as expected. Our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observed accuracy of 94.4%, shown by the blue vertical line, falls entirely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outside this null distribution. The p-value is less than 0.0001. The result is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statistically significant beyond any reasonable threshold.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 clinical perspective: the two most discriminant features — the ankle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swing AI-LR minimum and the knee swing AI-LR maximum — correspond exactly to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drop foot and stiff-knee gait, the two primary hallmarks of hemiparesis that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clinicians observe manually. Our data-driven pipeline independently rediscovered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markers. This validates both the AI-LR representation and the processing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pipeline. The AI-LR framework successfully maps complex multi-joint asymmetric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deficits onto a simple, physically interpretable 2-feature linear space.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an engineering perspective, the implications are concrete: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 linear, 2-feature decision boundary is embeddable on wearable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microcontrollers — no GPU, no cloud infrastructure required.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- This pipeline could serve as a perception front-end for exoskeleton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assist-as-needed control, providing real-time detection of which leg is paretic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and how asymmetric the current gait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 summarize, this work delivers four concrete contributions.</a:t>
            </a:r>
          </a:p>
          <a:p>
            <a:endParaRPr lang="en-US" dirty="0"/>
          </a:p>
          <a:p>
            <a:r>
              <a:rPr lang="en-US" dirty="0"/>
              <a:t>First: a robust finite state machine swing detector specifically designed to</a:t>
            </a:r>
          </a:p>
          <a:p>
            <a:r>
              <a:rPr lang="en-US" dirty="0"/>
              <a:t>handle the challenges of hemiparetic gait — foot drag and stiff-knee patterns</a:t>
            </a:r>
          </a:p>
          <a:p>
            <a:r>
              <a:rPr lang="en-US" dirty="0"/>
              <a:t>that defeat standard detectors.</a:t>
            </a:r>
          </a:p>
          <a:p>
            <a:endParaRPr lang="en-US" dirty="0"/>
          </a:p>
          <a:p>
            <a:r>
              <a:rPr lang="en-US" dirty="0"/>
              <a:t>Second: a  subject-specific calibration via Nelder-Mead optimization,</a:t>
            </a:r>
          </a:p>
          <a:p>
            <a:r>
              <a:rPr lang="en-US" dirty="0"/>
              <a:t>which adapts the swing detector to each patient's unique pathological gait</a:t>
            </a:r>
          </a:p>
          <a:p>
            <a:r>
              <a:rPr lang="en-US" dirty="0"/>
              <a:t>profile.</a:t>
            </a:r>
          </a:p>
          <a:p>
            <a:endParaRPr lang="en-US" dirty="0"/>
          </a:p>
          <a:p>
            <a:r>
              <a:rPr lang="en-US" dirty="0"/>
              <a:t>Third: the AI-LR feature space — a laterally signed, normalized, and physically</a:t>
            </a:r>
          </a:p>
          <a:p>
            <a:r>
              <a:rPr lang="en-US" dirty="0"/>
              <a:t>interpretable representation of gait asymmetry that maps directly to clinical</a:t>
            </a:r>
          </a:p>
          <a:p>
            <a:r>
              <a:rPr lang="en-US" dirty="0"/>
              <a:t>markers.</a:t>
            </a:r>
          </a:p>
          <a:p>
            <a:endParaRPr lang="en-US" dirty="0"/>
          </a:p>
          <a:p>
            <a:r>
              <a:rPr lang="en-US" dirty="0"/>
              <a:t>And fourth: 94.4% balanced accuracy in a rigorous 26-patient LOSO cross-</a:t>
            </a:r>
          </a:p>
          <a:p>
            <a:r>
              <a:rPr lang="en-US" dirty="0"/>
              <a:t>validation using only 2 features — demonstrating that robust and interpretable</a:t>
            </a:r>
          </a:p>
          <a:p>
            <a:r>
              <a:rPr lang="en-US" dirty="0"/>
              <a:t>hemiparetic side identification is achievable with minimal, wearable hardware.</a:t>
            </a:r>
          </a:p>
          <a:p>
            <a:endParaRPr lang="en-US" dirty="0"/>
          </a:p>
          <a:p>
            <a:r>
              <a:rPr lang="en-US" dirty="0"/>
              <a:t>As future work, we plan to extend this to longitudinal tracking — monitoring how</a:t>
            </a:r>
          </a:p>
          <a:p>
            <a:r>
              <a:rPr lang="en-US" dirty="0"/>
              <a:t>gait asymmetry evolves across multiple rehabilitation sessions per patient — to</a:t>
            </a:r>
          </a:p>
          <a:p>
            <a:r>
              <a:rPr lang="en-US" dirty="0"/>
              <a:t>move from identification toward quantitative recovery monitoring.</a:t>
            </a:r>
          </a:p>
          <a:p>
            <a:endParaRPr lang="en-US" dirty="0"/>
          </a:p>
          <a:p>
            <a:r>
              <a:rPr lang="en-US" dirty="0"/>
              <a:t>Thank you. I am happy to take your questions.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662E3-0D01-40B5-B15C-1274F207A650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E467D-E895-4239-9191-80368C2BCB01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2B6A3-C72A-4827-B8A5-85149A9FF5A8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15BB5-7CD0-493A-81A1-D27960F72101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02C01-7500-4CA8-BFBF-9A297082F2FB}" type="datetime1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59EA1-7FFD-49BA-B737-7F55F6CAA4A5}" type="datetime1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1FF8E-D9E1-4448-85C9-DE51DFF9FDBB}" type="datetime1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D5908-6DE4-4AFB-AF6A-3E89813D1E4E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0659C-C648-4177-9F7B-9470B687E2BF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CD76-3E49-47B0-9EEA-482F6A680B64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52B7-766A-4B8E-9598-4FDB7FF92149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3BEB8-340C-4A77-B39C-55F6826AC5C6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web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microsoft.com/office/2007/relationships/hdphoto" Target="../media/hdphoto1.wd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microsoft.com/office/2007/relationships/hdphoto" Target="../media/hdphoto2.wdp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53962-F9D7-1996-7DF3-4B090CB5A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B2E4B6E-55A8-BA9A-C6BF-F0AD13F99465}"/>
              </a:ext>
            </a:extLst>
          </p:cNvPr>
          <p:cNvSpPr txBox="1"/>
          <p:nvPr/>
        </p:nvSpPr>
        <p:spPr>
          <a:xfrm>
            <a:off x="0" y="2467877"/>
            <a:ext cx="12188825" cy="1384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entury Gothic" panose="020B0502020202020204" pitchFamily="34" charset="0"/>
              </a:rPr>
              <a:t>Interpretable Asymmetry Modeling for Post-Stroke Hemiparesis:</a:t>
            </a:r>
          </a:p>
          <a:p>
            <a:pPr algn="ctr"/>
            <a:r>
              <a:rPr lang="en-US" sz="2400" b="1" dirty="0">
                <a:latin typeface="Century Gothic" panose="020B0502020202020204" pitchFamily="34" charset="0"/>
              </a:rPr>
              <a:t>Robust Laterality Prediction using Minimal Kinematic Features</a:t>
            </a:r>
            <a:br>
              <a:rPr lang="en-US" sz="1799" dirty="0"/>
            </a:br>
            <a:endParaRPr lang="en-US" sz="1799" dirty="0"/>
          </a:p>
          <a:p>
            <a:pPr algn="ctr"/>
            <a:endParaRPr lang="en-US" sz="1799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0C92A54-EFE2-3547-BBAA-C77178226052}"/>
              </a:ext>
            </a:extLst>
          </p:cNvPr>
          <p:cNvSpPr txBox="1"/>
          <p:nvPr/>
        </p:nvSpPr>
        <p:spPr>
          <a:xfrm>
            <a:off x="5267318" y="3428999"/>
            <a:ext cx="184731" cy="6460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US" sz="1799" dirty="0"/>
            </a:br>
            <a:endParaRPr lang="en-US" sz="1799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E3B34EA-6534-DEAC-BEC1-24CCBB951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11" y="83774"/>
            <a:ext cx="3178753" cy="1350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19CCF4A-7B58-E082-5C3C-52E76C60191F}"/>
              </a:ext>
            </a:extLst>
          </p:cNvPr>
          <p:cNvSpPr txBox="1"/>
          <p:nvPr/>
        </p:nvSpPr>
        <p:spPr>
          <a:xfrm>
            <a:off x="5086144" y="5922353"/>
            <a:ext cx="2285406" cy="646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fr-FR" sz="1999" dirty="0"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fr-FR" sz="1600" dirty="0"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March  5th, 2026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2621C4D-FB69-B2D3-3C49-142A971FC5BB}"/>
              </a:ext>
            </a:extLst>
          </p:cNvPr>
          <p:cNvSpPr txBox="1"/>
          <p:nvPr/>
        </p:nvSpPr>
        <p:spPr>
          <a:xfrm>
            <a:off x="700422" y="4290221"/>
            <a:ext cx="382085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Lina Falek</a:t>
            </a:r>
            <a:endParaRPr lang="en-US" sz="1600" i="1" dirty="0">
              <a:latin typeface="Century Gothic" panose="020B0502020202020204" pitchFamily="34" charset="0"/>
            </a:endParaRPr>
          </a:p>
          <a:p>
            <a:r>
              <a:rPr lang="de-DE" sz="1600" dirty="0" err="1">
                <a:latin typeface="Century Gothic" panose="020B0502020202020204" pitchFamily="34" charset="0"/>
              </a:rPr>
              <a:t>Dr</a:t>
            </a:r>
            <a:r>
              <a:rPr lang="de-DE" sz="1600" dirty="0">
                <a:latin typeface="Century Gothic" panose="020B0502020202020204" pitchFamily="34" charset="0"/>
              </a:rPr>
              <a:t> </a:t>
            </a:r>
            <a:r>
              <a:rPr lang="de-DE" sz="1600" dirty="0" err="1">
                <a:latin typeface="Century Gothic" panose="020B0502020202020204" pitchFamily="34" charset="0"/>
              </a:rPr>
              <a:t>Wanxin</a:t>
            </a:r>
            <a:r>
              <a:rPr lang="de-DE" sz="1600" dirty="0">
                <a:latin typeface="Century Gothic" panose="020B0502020202020204" pitchFamily="34" charset="0"/>
              </a:rPr>
              <a:t> CHEN</a:t>
            </a:r>
            <a:endParaRPr lang="en-US" sz="1600" i="1" dirty="0">
              <a:latin typeface="Century Gothic" panose="020B0502020202020204" pitchFamily="34" charset="0"/>
            </a:endParaRPr>
          </a:p>
          <a:p>
            <a:r>
              <a:rPr lang="de-DE" sz="1600" dirty="0">
                <a:latin typeface="Century Gothic" panose="020B0502020202020204" pitchFamily="34" charset="0"/>
              </a:rPr>
              <a:t>Pr Samer MOHAMMED</a:t>
            </a:r>
          </a:p>
          <a:p>
            <a:r>
              <a:rPr lang="de-DE" sz="1600" dirty="0">
                <a:latin typeface="Century Gothic" panose="020B0502020202020204" pitchFamily="34" charset="0"/>
              </a:rPr>
              <a:t>Pr Reda BELAICHE</a:t>
            </a:r>
          </a:p>
          <a:p>
            <a:r>
              <a:rPr lang="de-DE" sz="1600" dirty="0">
                <a:latin typeface="Century Gothic" panose="020B0502020202020204" pitchFamily="34" charset="0"/>
              </a:rPr>
              <a:t> </a:t>
            </a:r>
          </a:p>
          <a:p>
            <a:endParaRPr lang="en-US" sz="1600" i="1" dirty="0">
              <a:latin typeface="Century Gothic" panose="020B0502020202020204" pitchFamily="34" charset="0"/>
            </a:endParaRPr>
          </a:p>
          <a:p>
            <a:endParaRPr lang="en-US" sz="1600" i="1" dirty="0">
              <a:latin typeface="Century Gothic" panose="020B0502020202020204" pitchFamily="34" charset="0"/>
            </a:endParaRPr>
          </a:p>
          <a:p>
            <a:endParaRPr lang="en-US" sz="1600" i="1" dirty="0">
              <a:latin typeface="Century Gothic" panose="020B0502020202020204" pitchFamily="34" charset="0"/>
            </a:endParaRPr>
          </a:p>
          <a:p>
            <a:r>
              <a:rPr lang="en-US" sz="1600" i="1" dirty="0">
                <a:latin typeface="Century Gothic" panose="020B0502020202020204" pitchFamily="34" charset="0"/>
              </a:rPr>
              <a:t>LISSI Laboratory, UPEC, Vitry-sur-Seine</a:t>
            </a:r>
            <a:endParaRPr lang="fr-FR" sz="1600" dirty="0"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210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9A058-0B8C-F1D4-BAEA-F195ED0A4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839644-CF92-6845-319D-BC1EC2C8F9D7}"/>
              </a:ext>
            </a:extLst>
          </p:cNvPr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A2C155-01BC-2CDD-785E-D08C42AD6CE6}"/>
              </a:ext>
            </a:extLst>
          </p:cNvPr>
          <p:cNvSpPr txBox="1"/>
          <p:nvPr/>
        </p:nvSpPr>
        <p:spPr>
          <a:xfrm>
            <a:off x="274320" y="565595"/>
            <a:ext cx="116128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600" b="1" i="0" dirty="0">
                <a:solidFill>
                  <a:srgbClr val="FFFFFF"/>
                </a:solidFill>
              </a:rPr>
              <a:t>Table of contents</a:t>
            </a:r>
            <a:endParaRPr sz="2600" b="1" i="0" dirty="0">
              <a:solidFill>
                <a:srgbClr val="FFFFFF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333EE6D-82D1-776C-8B4C-AC40256AFCFC}"/>
              </a:ext>
            </a:extLst>
          </p:cNvPr>
          <p:cNvSpPr txBox="1"/>
          <p:nvPr/>
        </p:nvSpPr>
        <p:spPr>
          <a:xfrm>
            <a:off x="687107" y="1971278"/>
            <a:ext cx="593184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 err="1">
                <a:latin typeface="DO-Sans" panose="00000500000000000000" pitchFamily="50" charset="0"/>
              </a:rPr>
              <a:t>Context</a:t>
            </a:r>
            <a:r>
              <a:rPr lang="fr-FR" sz="2400" dirty="0">
                <a:latin typeface="DO-Sans" panose="00000500000000000000" pitchFamily="50" charset="0"/>
              </a:rPr>
              <a:t> and Motivation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>
                <a:latin typeface="DO-Sans" panose="00000500000000000000" pitchFamily="50" charset="0"/>
              </a:rPr>
              <a:t>Data Collection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>
                <a:latin typeface="DO-Sans" panose="00000500000000000000" pitchFamily="50" charset="0"/>
              </a:rPr>
              <a:t>Signal </a:t>
            </a:r>
            <a:r>
              <a:rPr lang="fr-FR" sz="2400" dirty="0" err="1">
                <a:latin typeface="DO-Sans" panose="00000500000000000000" pitchFamily="50" charset="0"/>
              </a:rPr>
              <a:t>Preprocessing</a:t>
            </a:r>
            <a:r>
              <a:rPr lang="fr-FR" sz="2400" dirty="0">
                <a:latin typeface="DO-Sans" panose="00000500000000000000" pitchFamily="50" charset="0"/>
              </a:rPr>
              <a:t> &amp; Swing </a:t>
            </a:r>
            <a:r>
              <a:rPr lang="fr-FR" sz="2400" dirty="0" err="1">
                <a:latin typeface="DO-Sans" panose="00000500000000000000" pitchFamily="50" charset="0"/>
              </a:rPr>
              <a:t>Detection</a:t>
            </a:r>
            <a:r>
              <a:rPr lang="fr-FR" sz="2400" dirty="0">
                <a:latin typeface="DO-Sans" panose="00000500000000000000" pitchFamily="50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 err="1">
                <a:latin typeface="DO-Sans" panose="00000500000000000000" pitchFamily="50" charset="0"/>
              </a:rPr>
              <a:t>Subject</a:t>
            </a:r>
            <a:r>
              <a:rPr lang="fr-FR" sz="2400" dirty="0">
                <a:latin typeface="DO-Sans" panose="00000500000000000000" pitchFamily="50" charset="0"/>
              </a:rPr>
              <a:t> Calibration &amp; </a:t>
            </a:r>
            <a:r>
              <a:rPr lang="fr-FR" sz="2400" dirty="0" err="1">
                <a:latin typeface="DO-Sans" panose="00000500000000000000" pitchFamily="50" charset="0"/>
              </a:rPr>
              <a:t>Feature</a:t>
            </a:r>
            <a:r>
              <a:rPr lang="fr-FR" sz="2400" dirty="0">
                <a:latin typeface="DO-Sans" panose="00000500000000000000" pitchFamily="50" charset="0"/>
              </a:rPr>
              <a:t> Extraction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DO-Sans" panose="00000500000000000000" pitchFamily="50" charset="0"/>
              </a:rPr>
              <a:t>Classification</a:t>
            </a:r>
            <a:r>
              <a:rPr lang="fr-FR" sz="2400" dirty="0">
                <a:latin typeface="DO-Sans" panose="00000500000000000000" pitchFamily="50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sz="2400" dirty="0">
                <a:latin typeface="DO-Sans" panose="00000500000000000000" pitchFamily="50" charset="0"/>
              </a:rPr>
              <a:t>Conclusion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12FBCCD-2F6A-A3D7-3585-C389DBA0D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600" y="1494780"/>
            <a:ext cx="4971244" cy="4797625"/>
          </a:xfrm>
          <a:prstGeom prst="rect">
            <a:avLst/>
          </a:prstGeom>
        </p:spPr>
      </p:pic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5F218BF4-52B0-7613-9D58-9754BF201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730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Context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722149"/>
            <a:ext cx="121888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chemeClr val="bg1"/>
                </a:solidFill>
                <a:latin typeface="Helvetica" panose="020B0604020202020204" pitchFamily="2" charset="0"/>
              </a:rPr>
              <a:t>Stroke </a:t>
            </a:r>
            <a:r>
              <a:rPr lang="fr-FR" sz="1600" dirty="0" err="1">
                <a:solidFill>
                  <a:schemeClr val="bg1"/>
                </a:solidFill>
                <a:latin typeface="Helvetica" panose="020B0604020202020204" pitchFamily="2" charset="0"/>
              </a:rPr>
              <a:t>is</a:t>
            </a:r>
            <a:r>
              <a:rPr lang="fr-FR" sz="1600" dirty="0">
                <a:solidFill>
                  <a:schemeClr val="bg1"/>
                </a:solidFill>
                <a:latin typeface="Helvetica" panose="020B0604020202020204" pitchFamily="2" charset="0"/>
              </a:rPr>
              <a:t> the Leading Cause of </a:t>
            </a:r>
            <a:r>
              <a:rPr lang="fr-FR" sz="1600" dirty="0" err="1">
                <a:solidFill>
                  <a:schemeClr val="bg1"/>
                </a:solidFill>
                <a:latin typeface="Helvetica" panose="020B0604020202020204" pitchFamily="2" charset="0"/>
              </a:rPr>
              <a:t>Lifelong</a:t>
            </a:r>
            <a:r>
              <a:rPr lang="fr-FR" sz="1600" dirty="0">
                <a:solidFill>
                  <a:schemeClr val="bg1"/>
                </a:solidFill>
                <a:latin typeface="Helvetica" panose="020B0604020202020204" pitchFamily="2" charset="0"/>
              </a:rPr>
              <a:t> </a:t>
            </a:r>
            <a:r>
              <a:rPr lang="fr-FR" sz="1600" dirty="0" err="1">
                <a:solidFill>
                  <a:schemeClr val="bg1"/>
                </a:solidFill>
                <a:latin typeface="Helvetica" panose="020B0604020202020204" pitchFamily="2" charset="0"/>
              </a:rPr>
              <a:t>Disability</a:t>
            </a:r>
            <a:endParaRPr lang="en-US" sz="1600" dirty="0">
              <a:solidFill>
                <a:schemeClr val="bg1"/>
              </a:solidFill>
              <a:latin typeface="Helvetica" panose="020B0604020202020204" pitchFamily="2" charset="0"/>
            </a:endParaRP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2489A994-480C-53B9-8D88-248DF492A739}"/>
              </a:ext>
            </a:extLst>
          </p:cNvPr>
          <p:cNvGrpSpPr/>
          <p:nvPr/>
        </p:nvGrpSpPr>
        <p:grpSpPr>
          <a:xfrm>
            <a:off x="1737958" y="2324214"/>
            <a:ext cx="3421418" cy="1076937"/>
            <a:chOff x="1738411" y="2323926"/>
            <a:chExt cx="3422309" cy="1077218"/>
          </a:xfrm>
        </p:grpSpPr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76084A4A-C3A4-86F3-09DE-B96CDC0B4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3419" y="2458972"/>
              <a:ext cx="637301" cy="637301"/>
            </a:xfrm>
            <a:prstGeom prst="rect">
              <a:avLst/>
            </a:prstGeom>
          </p:spPr>
        </p:pic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7BAF858E-5E7C-9967-5B99-05A7312AAF63}"/>
                </a:ext>
              </a:extLst>
            </p:cNvPr>
            <p:cNvSpPr txBox="1"/>
            <p:nvPr/>
          </p:nvSpPr>
          <p:spPr>
            <a:xfrm>
              <a:off x="1738411" y="2323926"/>
              <a:ext cx="263636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599" dirty="0">
                  <a:latin typeface="Arial Black" panose="020B0A04020102020204" pitchFamily="34" charset="0"/>
                </a:rPr>
                <a:t>15 Million</a:t>
              </a:r>
            </a:p>
            <a:p>
              <a:r>
                <a:rPr lang="fr-FR" sz="1400" dirty="0" err="1">
                  <a:latin typeface="DO-Sans" panose="00000500000000000000" pitchFamily="50" charset="0"/>
                </a:rPr>
                <a:t>Suffer</a:t>
              </a:r>
              <a:r>
                <a:rPr lang="fr-FR" sz="1400" dirty="0">
                  <a:latin typeface="DO-Sans" panose="00000500000000000000" pitchFamily="50" charset="0"/>
                </a:rPr>
                <a:t> a stroke </a:t>
              </a:r>
              <a:r>
                <a:rPr lang="fr-FR" sz="1400" dirty="0" err="1">
                  <a:latin typeface="DO-Sans" panose="00000500000000000000" pitchFamily="50" charset="0"/>
                </a:rPr>
                <a:t>annually</a:t>
              </a:r>
              <a:r>
                <a:rPr lang="fr-FR" sz="1400" dirty="0">
                  <a:latin typeface="DO-Sans" panose="00000500000000000000" pitchFamily="50" charset="0"/>
                </a:rPr>
                <a:t> </a:t>
              </a:r>
              <a:r>
                <a:rPr lang="fr-FR" sz="1400" dirty="0" err="1">
                  <a:latin typeface="DO-Sans" panose="00000500000000000000" pitchFamily="50" charset="0"/>
                </a:rPr>
                <a:t>worldwide</a:t>
              </a:r>
              <a:endParaRPr lang="en-US" sz="1400" dirty="0">
                <a:latin typeface="DO-Sans" panose="00000500000000000000" pitchFamily="50" charset="0"/>
              </a:endParaRPr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6B94F99A-1765-4F3A-F04D-72DCEA1246BA}"/>
              </a:ext>
            </a:extLst>
          </p:cNvPr>
          <p:cNvGrpSpPr/>
          <p:nvPr/>
        </p:nvGrpSpPr>
        <p:grpSpPr>
          <a:xfrm>
            <a:off x="1787400" y="4052192"/>
            <a:ext cx="3371977" cy="1076937"/>
            <a:chOff x="1787400" y="4052192"/>
            <a:chExt cx="3371977" cy="1076937"/>
          </a:xfrm>
        </p:grpSpPr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3107171B-B02F-1DF6-64F8-B5B3E31A9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2242" y="4160605"/>
              <a:ext cx="637135" cy="637135"/>
            </a:xfrm>
            <a:prstGeom prst="rect">
              <a:avLst/>
            </a:prstGeom>
          </p:spPr>
        </p:pic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964114EF-7B29-689F-0A97-9DC939BB9DEC}"/>
                </a:ext>
              </a:extLst>
            </p:cNvPr>
            <p:cNvSpPr txBox="1"/>
            <p:nvPr/>
          </p:nvSpPr>
          <p:spPr>
            <a:xfrm>
              <a:off x="1787400" y="4052192"/>
              <a:ext cx="2536793" cy="1076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599" dirty="0">
                  <a:latin typeface="Arial Black" panose="020B0A04020102020204" pitchFamily="34" charset="0"/>
                </a:rPr>
                <a:t>&gt;1Million</a:t>
              </a:r>
            </a:p>
            <a:p>
              <a:r>
                <a:rPr lang="fr-FR" sz="1400" dirty="0" err="1">
                  <a:latin typeface="DO-Sans" panose="00000500000000000000" pitchFamily="50" charset="0"/>
                </a:rPr>
                <a:t>Individuals</a:t>
              </a:r>
              <a:r>
                <a:rPr lang="fr-FR" sz="1400" dirty="0">
                  <a:latin typeface="DO-Sans" panose="00000500000000000000" pitchFamily="50" charset="0"/>
                </a:rPr>
                <a:t> in France living </a:t>
              </a:r>
              <a:r>
                <a:rPr lang="fr-FR" sz="1400" dirty="0" err="1">
                  <a:latin typeface="DO-Sans" panose="00000500000000000000" pitchFamily="50" charset="0"/>
                </a:rPr>
                <a:t>with</a:t>
              </a:r>
              <a:r>
                <a:rPr lang="fr-FR" sz="1400" dirty="0">
                  <a:latin typeface="DO-Sans" panose="00000500000000000000" pitchFamily="50" charset="0"/>
                </a:rPr>
                <a:t> a </a:t>
              </a:r>
              <a:r>
                <a:rPr lang="fr-FR" sz="1400" dirty="0" err="1">
                  <a:latin typeface="DO-Sans" panose="00000500000000000000" pitchFamily="50" charset="0"/>
                </a:rPr>
                <a:t>history</a:t>
              </a:r>
              <a:r>
                <a:rPr lang="fr-FR" sz="1400" dirty="0">
                  <a:latin typeface="DO-Sans" panose="00000500000000000000" pitchFamily="50" charset="0"/>
                </a:rPr>
                <a:t> of stroke</a:t>
              </a:r>
              <a:endParaRPr lang="en-US" sz="1400" dirty="0">
                <a:latin typeface="DO-Sans" panose="00000500000000000000" pitchFamily="50" charset="0"/>
              </a:endParaRPr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AD15EC3F-6F42-CD33-0277-819E8481E06C}"/>
              </a:ext>
            </a:extLst>
          </p:cNvPr>
          <p:cNvGrpSpPr/>
          <p:nvPr/>
        </p:nvGrpSpPr>
        <p:grpSpPr>
          <a:xfrm>
            <a:off x="7385131" y="2266323"/>
            <a:ext cx="2968589" cy="1077090"/>
            <a:chOff x="7387055" y="2266020"/>
            <a:chExt cx="2969362" cy="1077371"/>
          </a:xfrm>
        </p:grpSpPr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2B01D7D1-37B1-C0CB-1CD3-43F837B273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9116" y="2493547"/>
              <a:ext cx="637301" cy="637301"/>
            </a:xfrm>
            <a:prstGeom prst="rect">
              <a:avLst/>
            </a:prstGeom>
          </p:spPr>
        </p:pic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7A603D30-788B-AEE5-6F5C-C7C544954328}"/>
                </a:ext>
              </a:extLst>
            </p:cNvPr>
            <p:cNvSpPr txBox="1"/>
            <p:nvPr/>
          </p:nvSpPr>
          <p:spPr>
            <a:xfrm>
              <a:off x="7387055" y="2266020"/>
              <a:ext cx="2280792" cy="10773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599" dirty="0">
                  <a:latin typeface="Arial Black" panose="020B0A04020102020204" pitchFamily="34" charset="0"/>
                </a:rPr>
                <a:t>5Million </a:t>
              </a:r>
            </a:p>
            <a:p>
              <a:r>
                <a:rPr lang="fr-FR" sz="1400" dirty="0">
                  <a:latin typeface="DO-Sans" panose="00000500000000000000" pitchFamily="50" charset="0"/>
                </a:rPr>
                <a:t>Are </a:t>
              </a:r>
              <a:r>
                <a:rPr lang="fr-FR" sz="1400" dirty="0" err="1">
                  <a:latin typeface="DO-Sans" panose="00000500000000000000" pitchFamily="50" charset="0"/>
                </a:rPr>
                <a:t>left</a:t>
              </a:r>
              <a:r>
                <a:rPr lang="fr-FR" sz="1400" dirty="0">
                  <a:latin typeface="DO-Sans" panose="00000500000000000000" pitchFamily="50" charset="0"/>
                </a:rPr>
                <a:t> </a:t>
              </a:r>
              <a:r>
                <a:rPr lang="fr-FR" sz="1400" dirty="0" err="1">
                  <a:latin typeface="DO-Sans" panose="00000500000000000000" pitchFamily="50" charset="0"/>
                </a:rPr>
                <a:t>permanently</a:t>
              </a:r>
              <a:r>
                <a:rPr lang="fr-FR" sz="1400" dirty="0">
                  <a:latin typeface="DO-Sans" panose="00000500000000000000" pitchFamily="50" charset="0"/>
                </a:rPr>
                <a:t> </a:t>
              </a:r>
              <a:r>
                <a:rPr lang="fr-FR" sz="1400" dirty="0" err="1">
                  <a:latin typeface="DO-Sans" panose="00000500000000000000" pitchFamily="50" charset="0"/>
                </a:rPr>
                <a:t>disabled</a:t>
              </a:r>
              <a:r>
                <a:rPr lang="fr-FR" sz="1400" dirty="0">
                  <a:latin typeface="DO-Sans" panose="00000500000000000000" pitchFamily="50" charset="0"/>
                </a:rPr>
                <a:t> </a:t>
              </a:r>
              <a:r>
                <a:rPr lang="fr-FR" sz="1400" dirty="0" err="1">
                  <a:latin typeface="DO-Sans" panose="00000500000000000000" pitchFamily="50" charset="0"/>
                </a:rPr>
                <a:t>each</a:t>
              </a:r>
              <a:r>
                <a:rPr lang="fr-FR" sz="1400" dirty="0">
                  <a:latin typeface="DO-Sans" panose="00000500000000000000" pitchFamily="50" charset="0"/>
                </a:rPr>
                <a:t> </a:t>
              </a:r>
              <a:r>
                <a:rPr lang="fr-FR" sz="1400" dirty="0" err="1">
                  <a:latin typeface="DO-Sans" panose="00000500000000000000" pitchFamily="50" charset="0"/>
                </a:rPr>
                <a:t>year</a:t>
              </a:r>
              <a:endParaRPr lang="en-US" sz="1400" dirty="0">
                <a:latin typeface="DO-Sans" panose="00000500000000000000" pitchFamily="50" charset="0"/>
              </a:endParaRPr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9BAADB1C-6C07-27F9-DDB5-2B4DEB3A5DB4}"/>
              </a:ext>
            </a:extLst>
          </p:cNvPr>
          <p:cNvGrpSpPr/>
          <p:nvPr/>
        </p:nvGrpSpPr>
        <p:grpSpPr>
          <a:xfrm>
            <a:off x="7436387" y="4007593"/>
            <a:ext cx="2917333" cy="1076937"/>
            <a:chOff x="7438324" y="4007743"/>
            <a:chExt cx="2918093" cy="1077218"/>
          </a:xfrm>
        </p:grpSpPr>
        <p:pic>
          <p:nvPicPr>
            <p:cNvPr id="27" name="Image 26">
              <a:extLst>
                <a:ext uri="{FF2B5EF4-FFF2-40B4-BE49-F238E27FC236}">
                  <a16:creationId xmlns:a16="http://schemas.microsoft.com/office/drawing/2014/main" id="{3D8ED535-FF0F-EC3A-F1A9-D5BDB5854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8947" y="4160626"/>
              <a:ext cx="637470" cy="637470"/>
            </a:xfrm>
            <a:prstGeom prst="rect">
              <a:avLst/>
            </a:prstGeom>
          </p:spPr>
        </p:pic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1B4130BB-633A-FB90-1E7A-B584D4466710}"/>
                </a:ext>
              </a:extLst>
            </p:cNvPr>
            <p:cNvSpPr txBox="1"/>
            <p:nvPr/>
          </p:nvSpPr>
          <p:spPr>
            <a:xfrm>
              <a:off x="7438324" y="4007743"/>
              <a:ext cx="2280792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599" dirty="0">
                  <a:latin typeface="Arial Black" panose="020B0A04020102020204" pitchFamily="34" charset="0"/>
                </a:rPr>
                <a:t>49.1%</a:t>
              </a:r>
            </a:p>
            <a:p>
              <a:r>
                <a:rPr lang="fr-FR" sz="1400" dirty="0">
                  <a:latin typeface="DO-Sans" panose="00000500000000000000" pitchFamily="50" charset="0"/>
                </a:rPr>
                <a:t>Of </a:t>
              </a:r>
              <a:r>
                <a:rPr lang="fr-FR" sz="1400" dirty="0" err="1">
                  <a:latin typeface="DO-Sans" panose="00000500000000000000" pitchFamily="50" charset="0"/>
                </a:rPr>
                <a:t>hospitalized</a:t>
              </a:r>
              <a:r>
                <a:rPr lang="fr-FR" sz="1400" dirty="0">
                  <a:latin typeface="DO-Sans" panose="00000500000000000000" pitchFamily="50" charset="0"/>
                </a:rPr>
                <a:t> patients are </a:t>
              </a:r>
              <a:r>
                <a:rPr lang="fr-FR" sz="1400" dirty="0" err="1">
                  <a:latin typeface="DO-Sans" panose="00000500000000000000" pitchFamily="50" charset="0"/>
                </a:rPr>
                <a:t>affected</a:t>
              </a:r>
              <a:r>
                <a:rPr lang="fr-FR" sz="1400" dirty="0">
                  <a:latin typeface="DO-Sans" panose="00000500000000000000" pitchFamily="50" charset="0"/>
                </a:rPr>
                <a:t> </a:t>
              </a:r>
              <a:r>
                <a:rPr lang="fr-FR" sz="1400" dirty="0" err="1">
                  <a:latin typeface="DO-Sans" panose="00000500000000000000" pitchFamily="50" charset="0"/>
                </a:rPr>
                <a:t>bg</a:t>
              </a:r>
              <a:r>
                <a:rPr lang="fr-FR" sz="1400" dirty="0">
                  <a:latin typeface="DO-Sans" panose="00000500000000000000" pitchFamily="50" charset="0"/>
                </a:rPr>
                <a:t> </a:t>
              </a:r>
              <a:r>
                <a:rPr lang="fr-FR" sz="1400" dirty="0" err="1">
                  <a:latin typeface="DO-Sans" panose="00000500000000000000" pitchFamily="50" charset="0"/>
                </a:rPr>
                <a:t>hemiplegia</a:t>
              </a:r>
              <a:endParaRPr lang="en-US" sz="1400" dirty="0">
                <a:latin typeface="DO-Sans" panose="00000500000000000000" pitchFamily="50" charset="0"/>
              </a:endParaRPr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0150B68-51C6-A661-9413-4C3AA955E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5068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End-to-End Pipeline</a:t>
            </a: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E759920D-EB0E-71C3-ED73-08A934C21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167" y="3242654"/>
            <a:ext cx="778442" cy="778442"/>
          </a:xfrm>
          <a:prstGeom prst="rect">
            <a:avLst/>
          </a:prstGeom>
        </p:spPr>
      </p:pic>
      <p:sp>
        <p:nvSpPr>
          <p:cNvPr id="41" name="ZoneTexte 40">
            <a:extLst>
              <a:ext uri="{FF2B5EF4-FFF2-40B4-BE49-F238E27FC236}">
                <a16:creationId xmlns:a16="http://schemas.microsoft.com/office/drawing/2014/main" id="{8A1E80E9-C39F-4723-AD0C-C660442A3239}"/>
              </a:ext>
            </a:extLst>
          </p:cNvPr>
          <p:cNvSpPr txBox="1"/>
          <p:nvPr/>
        </p:nvSpPr>
        <p:spPr>
          <a:xfrm>
            <a:off x="388619" y="4133393"/>
            <a:ext cx="17053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DO-Sans" panose="00000500000000000000" pitchFamily="50" charset="0"/>
              </a:rPr>
              <a:t>Data Collection</a:t>
            </a:r>
            <a:endParaRPr lang="en-US" sz="1600" dirty="0">
              <a:latin typeface="DO-Sans" panose="00000500000000000000" pitchFamily="50" charset="0"/>
            </a:endParaRPr>
          </a:p>
        </p:txBody>
      </p: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57BB4C2D-CF09-0A1E-98B1-E2C0C75B4FBD}"/>
              </a:ext>
            </a:extLst>
          </p:cNvPr>
          <p:cNvGrpSpPr/>
          <p:nvPr/>
        </p:nvGrpSpPr>
        <p:grpSpPr>
          <a:xfrm>
            <a:off x="2257747" y="3166790"/>
            <a:ext cx="1705356" cy="1305157"/>
            <a:chOff x="2257747" y="1553007"/>
            <a:chExt cx="1705356" cy="1305157"/>
          </a:xfrm>
        </p:grpSpPr>
        <p:pic>
          <p:nvPicPr>
            <p:cNvPr id="31" name="Image 30">
              <a:extLst>
                <a:ext uri="{FF2B5EF4-FFF2-40B4-BE49-F238E27FC236}">
                  <a16:creationId xmlns:a16="http://schemas.microsoft.com/office/drawing/2014/main" id="{A73C1A0F-D431-D29E-3346-C50EB40FA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64246" y="1553007"/>
              <a:ext cx="908140" cy="908140"/>
            </a:xfrm>
            <a:prstGeom prst="rect">
              <a:avLst/>
            </a:prstGeom>
          </p:spPr>
        </p:pic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0E87D10B-DB0C-F6C2-EE2E-8ED1CBD40450}"/>
                </a:ext>
              </a:extLst>
            </p:cNvPr>
            <p:cNvSpPr txBox="1"/>
            <p:nvPr/>
          </p:nvSpPr>
          <p:spPr>
            <a:xfrm>
              <a:off x="2257747" y="2519610"/>
              <a:ext cx="1705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dirty="0">
                  <a:latin typeface="DO-Sans" panose="00000500000000000000" pitchFamily="50" charset="0"/>
                </a:rPr>
                <a:t>Signal </a:t>
              </a:r>
              <a:r>
                <a:rPr lang="fr-FR" sz="1600" dirty="0" err="1">
                  <a:latin typeface="DO-Sans" panose="00000500000000000000" pitchFamily="50" charset="0"/>
                </a:rPr>
                <a:t>Processing</a:t>
              </a:r>
              <a:endParaRPr lang="en-US" sz="1600" dirty="0">
                <a:latin typeface="DO-Sans" panose="00000500000000000000" pitchFamily="50" charset="0"/>
              </a:endParaRPr>
            </a:p>
          </p:txBody>
        </p:sp>
      </p:grpSp>
      <p:grpSp>
        <p:nvGrpSpPr>
          <p:cNvPr id="61" name="Groupe 60">
            <a:extLst>
              <a:ext uri="{FF2B5EF4-FFF2-40B4-BE49-F238E27FC236}">
                <a16:creationId xmlns:a16="http://schemas.microsoft.com/office/drawing/2014/main" id="{23C1DC5A-DFDA-95CD-7EA0-B4C92AD0CE94}"/>
              </a:ext>
            </a:extLst>
          </p:cNvPr>
          <p:cNvGrpSpPr/>
          <p:nvPr/>
        </p:nvGrpSpPr>
        <p:grpSpPr>
          <a:xfrm>
            <a:off x="4205446" y="3279905"/>
            <a:ext cx="1705356" cy="1230197"/>
            <a:chOff x="4205446" y="1666122"/>
            <a:chExt cx="1705356" cy="1230197"/>
          </a:xfrm>
        </p:grpSpPr>
        <p:pic>
          <p:nvPicPr>
            <p:cNvPr id="33" name="Image 32">
              <a:extLst>
                <a:ext uri="{FF2B5EF4-FFF2-40B4-BE49-F238E27FC236}">
                  <a16:creationId xmlns:a16="http://schemas.microsoft.com/office/drawing/2014/main" id="{F6439685-6EFA-541A-EB5A-15FA9521A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655627" y="1666122"/>
              <a:ext cx="703940" cy="703940"/>
            </a:xfrm>
            <a:prstGeom prst="rect">
              <a:avLst/>
            </a:prstGeom>
          </p:spPr>
        </p:pic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00AF5589-898A-BB08-A8BB-C1E81214273A}"/>
                </a:ext>
              </a:extLst>
            </p:cNvPr>
            <p:cNvSpPr txBox="1"/>
            <p:nvPr/>
          </p:nvSpPr>
          <p:spPr>
            <a:xfrm>
              <a:off x="4205446" y="2557765"/>
              <a:ext cx="1705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dirty="0" err="1">
                  <a:latin typeface="DO-Sans" panose="00000500000000000000" pitchFamily="50" charset="0"/>
                </a:rPr>
                <a:t>SwingDetection</a:t>
              </a:r>
              <a:endParaRPr lang="fr-FR" sz="1600" dirty="0">
                <a:latin typeface="DO-Sans" panose="00000500000000000000" pitchFamily="50" charset="0"/>
              </a:endParaRPr>
            </a:p>
          </p:txBody>
        </p: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C6E7FC3E-D93C-DFE7-486E-B8E1A8039659}"/>
              </a:ext>
            </a:extLst>
          </p:cNvPr>
          <p:cNvGrpSpPr/>
          <p:nvPr/>
        </p:nvGrpSpPr>
        <p:grpSpPr>
          <a:xfrm>
            <a:off x="9833604" y="3381671"/>
            <a:ext cx="1705356" cy="1154922"/>
            <a:chOff x="9833604" y="1767888"/>
            <a:chExt cx="1705356" cy="1154922"/>
          </a:xfrm>
        </p:grpSpPr>
        <p:pic>
          <p:nvPicPr>
            <p:cNvPr id="38" name="Image 37">
              <a:extLst>
                <a:ext uri="{FF2B5EF4-FFF2-40B4-BE49-F238E27FC236}">
                  <a16:creationId xmlns:a16="http://schemas.microsoft.com/office/drawing/2014/main" id="{39D8D15E-DED0-D419-4EB8-827AF15E2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306671" y="1767888"/>
              <a:ext cx="673772" cy="673772"/>
            </a:xfrm>
            <a:prstGeom prst="rect">
              <a:avLst/>
            </a:prstGeom>
          </p:spPr>
        </p:pic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9D2A3527-C0BD-1467-4FDA-445A96ADC7A8}"/>
                </a:ext>
              </a:extLst>
            </p:cNvPr>
            <p:cNvSpPr txBox="1"/>
            <p:nvPr/>
          </p:nvSpPr>
          <p:spPr>
            <a:xfrm>
              <a:off x="9833604" y="2584256"/>
              <a:ext cx="1705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dirty="0">
                  <a:latin typeface="DO-Sans" panose="00000500000000000000" pitchFamily="50" charset="0"/>
                </a:rPr>
                <a:t>Classification</a:t>
              </a:r>
            </a:p>
          </p:txBody>
        </p:sp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90C8414C-B462-8601-D728-2205E602FFA4}"/>
              </a:ext>
            </a:extLst>
          </p:cNvPr>
          <p:cNvGrpSpPr/>
          <p:nvPr/>
        </p:nvGrpSpPr>
        <p:grpSpPr>
          <a:xfrm>
            <a:off x="7974137" y="3332855"/>
            <a:ext cx="1705356" cy="1355557"/>
            <a:chOff x="7974137" y="1719072"/>
            <a:chExt cx="1705356" cy="1355557"/>
          </a:xfrm>
        </p:grpSpPr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2C3F5585-652C-F8D4-AD87-9822AF71B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519490" y="1719072"/>
              <a:ext cx="673772" cy="673772"/>
            </a:xfrm>
            <a:prstGeom prst="rect">
              <a:avLst/>
            </a:prstGeom>
          </p:spPr>
        </p:pic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D5FBB4B5-D326-B2AC-43C1-61C682FA7C0F}"/>
                </a:ext>
              </a:extLst>
            </p:cNvPr>
            <p:cNvSpPr txBox="1"/>
            <p:nvPr/>
          </p:nvSpPr>
          <p:spPr>
            <a:xfrm>
              <a:off x="7974137" y="2489854"/>
              <a:ext cx="17053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dirty="0" err="1">
                  <a:latin typeface="DO-Sans" panose="00000500000000000000" pitchFamily="50" charset="0"/>
                </a:rPr>
                <a:t>Feature</a:t>
              </a:r>
              <a:r>
                <a:rPr lang="fr-FR" sz="1600" dirty="0">
                  <a:latin typeface="DO-Sans" panose="00000500000000000000" pitchFamily="50" charset="0"/>
                </a:rPr>
                <a:t> Extraction</a:t>
              </a:r>
            </a:p>
          </p:txBody>
        </p:sp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A29907F1-FB27-58DC-CDED-926B92421F3F}"/>
              </a:ext>
            </a:extLst>
          </p:cNvPr>
          <p:cNvGrpSpPr/>
          <p:nvPr/>
        </p:nvGrpSpPr>
        <p:grpSpPr>
          <a:xfrm>
            <a:off x="6105009" y="3300572"/>
            <a:ext cx="1705356" cy="1359132"/>
            <a:chOff x="6105009" y="1686789"/>
            <a:chExt cx="1705356" cy="1359132"/>
          </a:xfrm>
        </p:grpSpPr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C61A894B-2A12-8C08-3AA6-AF978A108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602642" y="1686789"/>
              <a:ext cx="673773" cy="673773"/>
            </a:xfrm>
            <a:prstGeom prst="rect">
              <a:avLst/>
            </a:prstGeom>
          </p:spPr>
        </p:pic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89D94F93-FBF3-0298-D08B-8EEFC45D86FA}"/>
                </a:ext>
              </a:extLst>
            </p:cNvPr>
            <p:cNvSpPr txBox="1"/>
            <p:nvPr/>
          </p:nvSpPr>
          <p:spPr>
            <a:xfrm>
              <a:off x="6105009" y="2461146"/>
              <a:ext cx="17053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dirty="0" err="1">
                  <a:latin typeface="DO-Sans" panose="00000500000000000000" pitchFamily="50" charset="0"/>
                </a:rPr>
                <a:t>Subject</a:t>
              </a:r>
              <a:r>
                <a:rPr lang="fr-FR" sz="1600" dirty="0">
                  <a:latin typeface="DO-Sans" panose="00000500000000000000" pitchFamily="50" charset="0"/>
                </a:rPr>
                <a:t> Calibration</a:t>
              </a:r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2A9BF640-2A63-DA7E-737D-70B3F8971E5F}"/>
              </a:ext>
            </a:extLst>
          </p:cNvPr>
          <p:cNvSpPr/>
          <p:nvPr/>
        </p:nvSpPr>
        <p:spPr>
          <a:xfrm>
            <a:off x="498421" y="2998549"/>
            <a:ext cx="1485752" cy="1793866"/>
          </a:xfrm>
          <a:prstGeom prst="rect">
            <a:avLst/>
          </a:prstGeom>
          <a:solidFill>
            <a:srgbClr val="B7D1E3">
              <a:alpha val="29804"/>
            </a:srgbClr>
          </a:solidFill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80D758C2-CDAD-CD91-194A-C923503F30CB}"/>
              </a:ext>
            </a:extLst>
          </p:cNvPr>
          <p:cNvCxnSpPr>
            <a:cxnSpLocks/>
          </p:cNvCxnSpPr>
          <p:nvPr/>
        </p:nvCxnSpPr>
        <p:spPr>
          <a:xfrm>
            <a:off x="9585166" y="3839663"/>
            <a:ext cx="358934" cy="0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CDF78F67-A9A4-AC46-7F56-AA6AC3147F72}"/>
              </a:ext>
            </a:extLst>
          </p:cNvPr>
          <p:cNvCxnSpPr>
            <a:cxnSpLocks/>
          </p:cNvCxnSpPr>
          <p:nvPr/>
        </p:nvCxnSpPr>
        <p:spPr>
          <a:xfrm>
            <a:off x="7739028" y="3846218"/>
            <a:ext cx="358934" cy="0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6D413D0C-6029-9743-B0AF-A54D7116FFBD}"/>
              </a:ext>
            </a:extLst>
          </p:cNvPr>
          <p:cNvCxnSpPr>
            <a:cxnSpLocks/>
          </p:cNvCxnSpPr>
          <p:nvPr/>
        </p:nvCxnSpPr>
        <p:spPr>
          <a:xfrm>
            <a:off x="5871612" y="3839663"/>
            <a:ext cx="358934" cy="0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E92BB0B4-DEF4-35A2-E3ED-919DF4D82065}"/>
              </a:ext>
            </a:extLst>
          </p:cNvPr>
          <p:cNvCxnSpPr>
            <a:cxnSpLocks/>
          </p:cNvCxnSpPr>
          <p:nvPr/>
        </p:nvCxnSpPr>
        <p:spPr>
          <a:xfrm>
            <a:off x="3958989" y="3839663"/>
            <a:ext cx="358934" cy="0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F2A0BBD9-469E-F2E6-6D27-748BABD7DCE6}"/>
              </a:ext>
            </a:extLst>
          </p:cNvPr>
          <p:cNvCxnSpPr>
            <a:cxnSpLocks/>
          </p:cNvCxnSpPr>
          <p:nvPr/>
        </p:nvCxnSpPr>
        <p:spPr>
          <a:xfrm>
            <a:off x="2058559" y="3839663"/>
            <a:ext cx="358934" cy="0"/>
          </a:xfrm>
          <a:prstGeom prst="straightConnector1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4" name="TextBox 3">
            <a:extLst>
              <a:ext uri="{FF2B5EF4-FFF2-40B4-BE49-F238E27FC236}">
                <a16:creationId xmlns:a16="http://schemas.microsoft.com/office/drawing/2014/main" id="{9F911637-9000-ACEF-6B6C-2A5F02C5E7E4}"/>
              </a:ext>
            </a:extLst>
          </p:cNvPr>
          <p:cNvSpPr txBox="1"/>
          <p:nvPr/>
        </p:nvSpPr>
        <p:spPr>
          <a:xfrm>
            <a:off x="0" y="722149"/>
            <a:ext cx="121888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Helvetica" panose="020B0604020202020204" pitchFamily="2" charset="0"/>
              </a:rPr>
              <a:t>From raw IMU signals to hemiparetic-side prediction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8C05118-BC1A-86E4-F794-2CE5DA8C6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60042E-7 4.44444E-6 L 0.15225 -0.00047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60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225 -0.00047 L 0.31076 -0.00047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076 -0.00047 L 0.46679 -0.00093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02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6679 -0.00093 L 0.62204 -0.00787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62" y="-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2204 -0.00787 L 0.77103 -0.00787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7" grpId="1" animBg="1"/>
      <p:bldP spid="47" grpId="2" animBg="1"/>
      <p:bldP spid="47" grpId="3" animBg="1"/>
      <p:bldP spid="47" grpId="4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EF5A9-0979-B553-FEFA-152458EE7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67B1B8-EAF2-9933-1824-EC7CB46FB1B1}"/>
              </a:ext>
            </a:extLst>
          </p:cNvPr>
          <p:cNvSpPr/>
          <p:nvPr/>
        </p:nvSpPr>
        <p:spPr>
          <a:xfrm>
            <a:off x="-13716" y="-2980"/>
            <a:ext cx="12188952" cy="1143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140980-F3D8-1B82-6B16-92EBE512BED7}"/>
              </a:ext>
            </a:extLst>
          </p:cNvPr>
          <p:cNvSpPr txBox="1"/>
          <p:nvPr/>
        </p:nvSpPr>
        <p:spPr>
          <a:xfrm>
            <a:off x="13589" y="749808"/>
            <a:ext cx="118736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0" i="1" dirty="0" err="1">
                <a:solidFill>
                  <a:srgbClr val="F0F3F4"/>
                </a:solidFill>
                <a:latin typeface="Helvetica" panose="020B0604020202020204" pitchFamily="2" charset="0"/>
              </a:rPr>
              <a:t>Demographic</a:t>
            </a:r>
            <a:endParaRPr sz="1600" b="0" i="1" dirty="0">
              <a:solidFill>
                <a:srgbClr val="F0F3F4"/>
              </a:solidFill>
              <a:latin typeface="Helvetica" panose="020B0604020202020204" pitchFamily="2" charset="0"/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98839C11-DDB0-368D-19E7-5F0657B193D2}"/>
              </a:ext>
            </a:extLst>
          </p:cNvPr>
          <p:cNvSpPr txBox="1"/>
          <p:nvPr/>
        </p:nvSpPr>
        <p:spPr>
          <a:xfrm>
            <a:off x="274320" y="73152"/>
            <a:ext cx="116128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600" b="1" i="0" dirty="0">
                <a:solidFill>
                  <a:srgbClr val="FFFFFF"/>
                </a:solidFill>
              </a:rPr>
              <a:t>Data Collection</a:t>
            </a:r>
            <a:endParaRPr sz="2600" b="1" i="0" dirty="0">
              <a:solidFill>
                <a:srgbClr val="FFFFFF"/>
              </a:solidFill>
            </a:endParaRPr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4D8896F3-283C-0137-48FD-191B4D1C57AC}"/>
              </a:ext>
            </a:extLst>
          </p:cNvPr>
          <p:cNvGrpSpPr/>
          <p:nvPr/>
        </p:nvGrpSpPr>
        <p:grpSpPr>
          <a:xfrm>
            <a:off x="1133856" y="1777697"/>
            <a:ext cx="2187386" cy="1000274"/>
            <a:chOff x="1712262" y="1192684"/>
            <a:chExt cx="2187386" cy="1000274"/>
          </a:xfrm>
        </p:grpSpPr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6C2DBFB4-3472-8CB1-FFB5-CE19546E3113}"/>
                </a:ext>
              </a:extLst>
            </p:cNvPr>
            <p:cNvSpPr txBox="1"/>
            <p:nvPr/>
          </p:nvSpPr>
          <p:spPr>
            <a:xfrm>
              <a:off x="1712262" y="1854404"/>
              <a:ext cx="218738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DO-Sans" panose="00000500000000000000" pitchFamily="50" charset="0"/>
                </a:rPr>
                <a:t>hemiparetic patients</a:t>
              </a: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5CC28443-D296-235D-9889-5B4400D5192C}"/>
                </a:ext>
              </a:extLst>
            </p:cNvPr>
            <p:cNvSpPr txBox="1"/>
            <p:nvPr/>
          </p:nvSpPr>
          <p:spPr>
            <a:xfrm>
              <a:off x="2298881" y="1192684"/>
              <a:ext cx="100293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000" b="1" dirty="0">
                  <a:latin typeface="Arial Black" panose="020B0A040201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30</a:t>
              </a:r>
              <a:r>
                <a:rPr lang="en-US" sz="4000" b="1" dirty="0">
                  <a:latin typeface="Century Gothic" panose="020B05020202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</a:p>
          </p:txBody>
        </p:sp>
      </p:grpSp>
      <p:grpSp>
        <p:nvGrpSpPr>
          <p:cNvPr id="7" name="Groupe 6">
            <a:extLst>
              <a:ext uri="{FF2B5EF4-FFF2-40B4-BE49-F238E27FC236}">
                <a16:creationId xmlns:a16="http://schemas.microsoft.com/office/drawing/2014/main" id="{8EAE8827-62B9-9D84-C646-27E4795E144A}"/>
              </a:ext>
            </a:extLst>
          </p:cNvPr>
          <p:cNvGrpSpPr/>
          <p:nvPr/>
        </p:nvGrpSpPr>
        <p:grpSpPr>
          <a:xfrm>
            <a:off x="3700426" y="1703916"/>
            <a:ext cx="2187386" cy="1220249"/>
            <a:chOff x="1712262" y="1218930"/>
            <a:chExt cx="2187386" cy="1220249"/>
          </a:xfrm>
        </p:grpSpPr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260D3BBE-E4A6-0F4F-6EB8-4112194DFB4F}"/>
                </a:ext>
              </a:extLst>
            </p:cNvPr>
            <p:cNvSpPr txBox="1"/>
            <p:nvPr/>
          </p:nvSpPr>
          <p:spPr>
            <a:xfrm>
              <a:off x="1712262" y="1854404"/>
              <a:ext cx="218738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latin typeface="DO-Sans" panose="00000500000000000000" pitchFamily="50" charset="0"/>
                </a:rPr>
                <a:t>Patients successfully processed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3BD3BA10-3D03-10C9-E02B-F15061D35B72}"/>
                </a:ext>
              </a:extLst>
            </p:cNvPr>
            <p:cNvSpPr txBox="1"/>
            <p:nvPr/>
          </p:nvSpPr>
          <p:spPr>
            <a:xfrm>
              <a:off x="2443505" y="1218930"/>
              <a:ext cx="100293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000" b="1" dirty="0">
                  <a:latin typeface="Arial Black" panose="020B0A040201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26 </a:t>
              </a: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05334DAD-FF13-FC5F-E640-302AEBB80E8F}"/>
              </a:ext>
            </a:extLst>
          </p:cNvPr>
          <p:cNvGrpSpPr/>
          <p:nvPr/>
        </p:nvGrpSpPr>
        <p:grpSpPr>
          <a:xfrm>
            <a:off x="6686788" y="1734625"/>
            <a:ext cx="2187386" cy="1046440"/>
            <a:chOff x="1883712" y="1192684"/>
            <a:chExt cx="2187386" cy="1046440"/>
          </a:xfrm>
        </p:grpSpPr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BA49BA03-A1C2-D836-606A-B420B70B6E58}"/>
                </a:ext>
              </a:extLst>
            </p:cNvPr>
            <p:cNvSpPr txBox="1"/>
            <p:nvPr/>
          </p:nvSpPr>
          <p:spPr>
            <a:xfrm>
              <a:off x="1883712" y="1900570"/>
              <a:ext cx="218738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DO-Sans" panose="00000500000000000000" pitchFamily="50" charset="0"/>
                </a:rPr>
                <a:t>Left paretic (69%)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133D6AE2-92ED-5ECB-89AD-362384AB0D76}"/>
                </a:ext>
              </a:extLst>
            </p:cNvPr>
            <p:cNvSpPr txBox="1"/>
            <p:nvPr/>
          </p:nvSpPr>
          <p:spPr>
            <a:xfrm>
              <a:off x="2339788" y="1192684"/>
              <a:ext cx="100293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000" b="1" dirty="0">
                  <a:latin typeface="Arial Black" panose="020B0A040201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18 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BE201B73-47B0-97C1-FC33-05DE92B6C1BB}"/>
              </a:ext>
            </a:extLst>
          </p:cNvPr>
          <p:cNvGrpSpPr/>
          <p:nvPr/>
        </p:nvGrpSpPr>
        <p:grpSpPr>
          <a:xfrm>
            <a:off x="9069584" y="1734625"/>
            <a:ext cx="2187386" cy="1089512"/>
            <a:chOff x="1819143" y="1192684"/>
            <a:chExt cx="2187386" cy="1089512"/>
          </a:xfrm>
        </p:grpSpPr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0F32DA8C-46C7-D42F-164A-639075F93072}"/>
                </a:ext>
              </a:extLst>
            </p:cNvPr>
            <p:cNvSpPr txBox="1"/>
            <p:nvPr/>
          </p:nvSpPr>
          <p:spPr>
            <a:xfrm>
              <a:off x="1819143" y="1943642"/>
              <a:ext cx="218738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DO-Sans" panose="00000500000000000000" pitchFamily="50" charset="0"/>
                </a:rPr>
                <a:t>Right paretic (31%)</a:t>
              </a:r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FCCF380F-B767-A17B-1906-53DD9AD7CEFB}"/>
                </a:ext>
              </a:extLst>
            </p:cNvPr>
            <p:cNvSpPr txBox="1"/>
            <p:nvPr/>
          </p:nvSpPr>
          <p:spPr>
            <a:xfrm>
              <a:off x="2422709" y="1192684"/>
              <a:ext cx="79520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000" b="1" dirty="0">
                  <a:latin typeface="Arial Black" panose="020B0A040201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8 </a:t>
              </a:r>
            </a:p>
          </p:txBody>
        </p:sp>
      </p:grpSp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A8C5FB09-28A4-4493-FA91-AFAE947C1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308424"/>
              </p:ext>
            </p:extLst>
          </p:nvPr>
        </p:nvGraphicFramePr>
        <p:xfrm>
          <a:off x="2158982" y="3439691"/>
          <a:ext cx="8004295" cy="28346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72061">
                  <a:extLst>
                    <a:ext uri="{9D8B030D-6E8A-4147-A177-3AD203B41FA5}">
                      <a16:colId xmlns:a16="http://schemas.microsoft.com/office/drawing/2014/main" val="2179749366"/>
                    </a:ext>
                  </a:extLst>
                </a:gridCol>
                <a:gridCol w="1930086">
                  <a:extLst>
                    <a:ext uri="{9D8B030D-6E8A-4147-A177-3AD203B41FA5}">
                      <a16:colId xmlns:a16="http://schemas.microsoft.com/office/drawing/2014/main" val="2359674592"/>
                    </a:ext>
                  </a:extLst>
                </a:gridCol>
                <a:gridCol w="2001074">
                  <a:extLst>
                    <a:ext uri="{9D8B030D-6E8A-4147-A177-3AD203B41FA5}">
                      <a16:colId xmlns:a16="http://schemas.microsoft.com/office/drawing/2014/main" val="854580408"/>
                    </a:ext>
                  </a:extLst>
                </a:gridCol>
                <a:gridCol w="2001074">
                  <a:extLst>
                    <a:ext uri="{9D8B030D-6E8A-4147-A177-3AD203B41FA5}">
                      <a16:colId xmlns:a16="http://schemas.microsoft.com/office/drawing/2014/main" val="818977783"/>
                    </a:ext>
                  </a:extLst>
                </a:gridCol>
              </a:tblGrid>
              <a:tr h="26424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Variable</a:t>
                      </a:r>
                      <a:endParaRPr lang="en-US" sz="16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 (n=26)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Left (n=18)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Right (n=8)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15265940"/>
                  </a:ext>
                </a:extLst>
              </a:tr>
              <a:tr h="26424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54.7 (12.6)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55.9 (11.6)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55.9 (11.6)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63424103"/>
                  </a:ext>
                </a:extLst>
              </a:tr>
              <a:tr h="26424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Gender (M/F)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17/9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13/5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4/4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92415231"/>
                  </a:ext>
                </a:extLst>
              </a:tr>
              <a:tr h="26424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Weight (kg)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80.0 (13.2)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83.0 (12.0)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73.3 (14.1)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19257373"/>
                  </a:ext>
                </a:extLst>
              </a:tr>
              <a:tr h="26424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Height (cm)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165.8 (6.6)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166.7 (7.0)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163.9 (5.7)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89852301"/>
                  </a:ext>
                </a:extLst>
              </a:tr>
              <a:tr h="26424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MoCA score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26.7 (2.3)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26.7 (2.3)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26.6 (2.4)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88689102"/>
                  </a:ext>
                </a:extLst>
              </a:tr>
              <a:tr h="45641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Stroke type (ischemic/hemorrhagic)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17/9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13/5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4/4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833432"/>
                  </a:ext>
                </a:extLst>
              </a:tr>
            </a:tbl>
          </a:graphicData>
        </a:graphic>
      </p:graphicFrame>
      <p:sp>
        <p:nvSpPr>
          <p:cNvPr id="19" name="Espace réservé du numéro de diapositive 18">
            <a:extLst>
              <a:ext uri="{FF2B5EF4-FFF2-40B4-BE49-F238E27FC236}">
                <a16:creationId xmlns:a16="http://schemas.microsoft.com/office/drawing/2014/main" id="{BD992392-0774-2B8E-CD95-97001F4E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2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716" y="-2980"/>
            <a:ext cx="12188952" cy="1143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589" y="749808"/>
            <a:ext cx="118736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0" i="1" dirty="0">
                <a:solidFill>
                  <a:srgbClr val="F0F3F4"/>
                </a:solidFill>
                <a:latin typeface="Helvetica" panose="020B0604020202020204" pitchFamily="2" charset="0"/>
              </a:rPr>
              <a:t>Setup and Protocol</a:t>
            </a:r>
            <a:endParaRPr sz="1600" b="0" i="1" dirty="0">
              <a:solidFill>
                <a:srgbClr val="F0F3F4"/>
              </a:solidFill>
              <a:latin typeface="Helvetica" panose="020B0604020202020204" pitchFamily="2" charset="0"/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8CDBC11A-7A73-73EC-52B5-281ACB27B9DD}"/>
              </a:ext>
            </a:extLst>
          </p:cNvPr>
          <p:cNvSpPr txBox="1"/>
          <p:nvPr/>
        </p:nvSpPr>
        <p:spPr>
          <a:xfrm>
            <a:off x="274320" y="73152"/>
            <a:ext cx="116128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600" b="1" i="0" dirty="0">
                <a:solidFill>
                  <a:srgbClr val="FFFFFF"/>
                </a:solidFill>
              </a:rPr>
              <a:t>Data Collection</a:t>
            </a:r>
            <a:endParaRPr sz="2600" b="1" i="0" dirty="0">
              <a:solidFill>
                <a:srgbClr val="FFFFFF"/>
              </a:solidFill>
            </a:endParaRP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D8CE16AB-0B34-E1CD-F1B5-6AF6A8465850}"/>
              </a:ext>
            </a:extLst>
          </p:cNvPr>
          <p:cNvGrpSpPr/>
          <p:nvPr/>
        </p:nvGrpSpPr>
        <p:grpSpPr>
          <a:xfrm>
            <a:off x="820416" y="2153775"/>
            <a:ext cx="2517052" cy="3123440"/>
            <a:chOff x="925592" y="1674424"/>
            <a:chExt cx="2517052" cy="3123440"/>
          </a:xfrm>
        </p:grpSpPr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F7DCAFAD-F970-209A-13D1-B6EC98854B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8636" y="1674424"/>
              <a:ext cx="1979564" cy="2153746"/>
            </a:xfrm>
            <a:prstGeom prst="rect">
              <a:avLst/>
            </a:prstGeom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3E5ADBBE-E7A8-59AC-75E8-4AD24875A6FA}"/>
                </a:ext>
              </a:extLst>
            </p:cNvPr>
            <p:cNvSpPr txBox="1"/>
            <p:nvPr/>
          </p:nvSpPr>
          <p:spPr>
            <a:xfrm>
              <a:off x="925592" y="4089978"/>
              <a:ext cx="251705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DO-Sans" panose="00000500000000000000" pitchFamily="50" charset="0"/>
                </a:rPr>
                <a:t>Sensor Setup</a:t>
              </a:r>
            </a:p>
            <a:p>
              <a:pPr algn="ctr"/>
              <a:endParaRPr lang="en-US" sz="1400" dirty="0">
                <a:latin typeface="DO-Sans" panose="00000500000000000000" pitchFamily="50" charset="0"/>
              </a:endParaRPr>
            </a:p>
            <a:p>
              <a:pPr marL="171450" indent="-171450" algn="ctr">
                <a:buFont typeface="Arial" panose="020B0604020202020204" pitchFamily="34" charset="0"/>
                <a:buChar char="•"/>
              </a:pPr>
              <a:r>
                <a:rPr lang="en-US" sz="1200" dirty="0">
                  <a:latin typeface="DO-Sans" panose="00000500000000000000" pitchFamily="50" charset="0"/>
                </a:rPr>
                <a:t>7 IMU sensors  (</a:t>
              </a:r>
              <a:r>
                <a:rPr lang="en-US" sz="1200" dirty="0" err="1">
                  <a:latin typeface="DO-Sans" panose="00000500000000000000" pitchFamily="50" charset="0"/>
                </a:rPr>
                <a:t>Xsens</a:t>
              </a:r>
              <a:r>
                <a:rPr lang="en-US" sz="1200" dirty="0">
                  <a:latin typeface="DO-Sans" panose="00000500000000000000" pitchFamily="50" charset="0"/>
                </a:rPr>
                <a:t>-type)</a:t>
              </a:r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DC7C9EF7-3DE0-CC0D-7875-AB2DB8623AD3}"/>
              </a:ext>
            </a:extLst>
          </p:cNvPr>
          <p:cNvGrpSpPr/>
          <p:nvPr/>
        </p:nvGrpSpPr>
        <p:grpSpPr>
          <a:xfrm>
            <a:off x="4663264" y="2237711"/>
            <a:ext cx="2328916" cy="3605104"/>
            <a:chOff x="4663264" y="2237711"/>
            <a:chExt cx="2328916" cy="3605104"/>
          </a:xfrm>
        </p:grpSpPr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963CB687-A835-5154-525F-792FD93DD795}"/>
                </a:ext>
              </a:extLst>
            </p:cNvPr>
            <p:cNvSpPr txBox="1"/>
            <p:nvPr/>
          </p:nvSpPr>
          <p:spPr>
            <a:xfrm>
              <a:off x="4663264" y="4457820"/>
              <a:ext cx="2328915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DO-Sans" panose="00000500000000000000" pitchFamily="50" charset="0"/>
                </a:rPr>
                <a:t>Sensors record</a:t>
              </a:r>
            </a:p>
            <a:p>
              <a:pPr algn="ctr"/>
              <a:endParaRPr lang="en-US" sz="1400" dirty="0">
                <a:latin typeface="DO-Sans" panose="00000500000000000000" pitchFamily="50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DO-Sans" panose="00000500000000000000" pitchFamily="50" charset="0"/>
                </a:rPr>
                <a:t>Acceleration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DO-Sans" panose="00000500000000000000" pitchFamily="50" charset="0"/>
                </a:rPr>
                <a:t>gyroscope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DO-Sans" panose="00000500000000000000" pitchFamily="50" charset="0"/>
                </a:rPr>
                <a:t>magnetometer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DO-Sans" panose="00000500000000000000" pitchFamily="50" charset="0"/>
                </a:rPr>
                <a:t>Euler angles </a:t>
              </a:r>
            </a:p>
          </p:txBody>
        </p:sp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4DC2AA10-4F6F-A160-85B9-5886E0858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23" t="5964" r="15060" b="13605"/>
            <a:stretch>
              <a:fillRect/>
            </a:stretch>
          </p:blipFill>
          <p:spPr>
            <a:xfrm>
              <a:off x="4663265" y="2237711"/>
              <a:ext cx="2328915" cy="1918806"/>
            </a:xfrm>
            <a:prstGeom prst="rect">
              <a:avLst/>
            </a:prstGeom>
          </p:spPr>
        </p:pic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BE76531F-F88B-9054-3276-D5AE88BF4F98}"/>
              </a:ext>
            </a:extLst>
          </p:cNvPr>
          <p:cNvGrpSpPr/>
          <p:nvPr/>
        </p:nvGrpSpPr>
        <p:grpSpPr>
          <a:xfrm>
            <a:off x="8247279" y="2738205"/>
            <a:ext cx="3188506" cy="2539010"/>
            <a:chOff x="8247279" y="2738205"/>
            <a:chExt cx="3188506" cy="2539010"/>
          </a:xfrm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E4B4FCC6-BE95-755F-AD2B-A4D6338E8F93}"/>
                </a:ext>
              </a:extLst>
            </p:cNvPr>
            <p:cNvGrpSpPr/>
            <p:nvPr/>
          </p:nvGrpSpPr>
          <p:grpSpPr>
            <a:xfrm>
              <a:off x="8247280" y="2738205"/>
              <a:ext cx="1661629" cy="492443"/>
              <a:chOff x="8681926" y="1672743"/>
              <a:chExt cx="1836727" cy="492443"/>
            </a:xfrm>
          </p:grpSpPr>
          <p:sp>
            <p:nvSpPr>
              <p:cNvPr id="16" name="Rounded Rectangle">
                <a:extLst>
                  <a:ext uri="{FF2B5EF4-FFF2-40B4-BE49-F238E27FC236}">
                    <a16:creationId xmlns:a16="http://schemas.microsoft.com/office/drawing/2014/main" id="{A481B56E-E291-1639-1207-09430C2D1D5A}"/>
                  </a:ext>
                </a:extLst>
              </p:cNvPr>
              <p:cNvSpPr/>
              <p:nvPr/>
            </p:nvSpPr>
            <p:spPr>
              <a:xfrm>
                <a:off x="8795416" y="1672743"/>
                <a:ext cx="1648761" cy="492443"/>
              </a:xfrm>
              <a:prstGeom prst="roundRect">
                <a:avLst>
                  <a:gd name="adj" fmla="val 10005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 w="3175"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1547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AC21F50F-3003-FF2C-E819-04660C2B67A1}"/>
                  </a:ext>
                </a:extLst>
              </p:cNvPr>
              <p:cNvSpPr txBox="1"/>
              <p:nvPr/>
            </p:nvSpPr>
            <p:spPr>
              <a:xfrm>
                <a:off x="8681926" y="1772583"/>
                <a:ext cx="183672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DO-Sans" panose="00000500000000000000" pitchFamily="50" charset="0"/>
                    <a:ea typeface="Tahoma" panose="020B0604030504040204" pitchFamily="34" charset="0"/>
                    <a:cs typeface="Tahoma" panose="020B0604030504040204" pitchFamily="34" charset="0"/>
                  </a:rPr>
                  <a:t>Barefoot Fast </a:t>
                </a:r>
              </a:p>
            </p:txBody>
          </p:sp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B0D71F3F-F39A-46B8-4176-8CC7BF128223}"/>
                </a:ext>
              </a:extLst>
            </p:cNvPr>
            <p:cNvGrpSpPr/>
            <p:nvPr/>
          </p:nvGrpSpPr>
          <p:grpSpPr>
            <a:xfrm>
              <a:off x="8247279" y="3354443"/>
              <a:ext cx="1661629" cy="492443"/>
              <a:chOff x="8681926" y="1672743"/>
              <a:chExt cx="1836727" cy="492443"/>
            </a:xfrm>
          </p:grpSpPr>
          <p:sp>
            <p:nvSpPr>
              <p:cNvPr id="43" name="Rounded Rectangle">
                <a:extLst>
                  <a:ext uri="{FF2B5EF4-FFF2-40B4-BE49-F238E27FC236}">
                    <a16:creationId xmlns:a16="http://schemas.microsoft.com/office/drawing/2014/main" id="{61DF625B-E4B7-B03F-C123-6B526AFBFE37}"/>
                  </a:ext>
                </a:extLst>
              </p:cNvPr>
              <p:cNvSpPr/>
              <p:nvPr/>
            </p:nvSpPr>
            <p:spPr>
              <a:xfrm>
                <a:off x="8795416" y="1672743"/>
                <a:ext cx="1648761" cy="492443"/>
              </a:xfrm>
              <a:prstGeom prst="roundRect">
                <a:avLst>
                  <a:gd name="adj" fmla="val 10005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 w="3175"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1547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15AE7A3F-B758-3BEC-3FEB-DDE093F77ACE}"/>
                  </a:ext>
                </a:extLst>
              </p:cNvPr>
              <p:cNvSpPr txBox="1"/>
              <p:nvPr/>
            </p:nvSpPr>
            <p:spPr>
              <a:xfrm>
                <a:off x="8681926" y="1772583"/>
                <a:ext cx="183672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DO-Sans" panose="00000500000000000000" pitchFamily="50" charset="0"/>
                    <a:ea typeface="Tahoma" panose="020B0604030504040204" pitchFamily="34" charset="0"/>
                    <a:cs typeface="Tahoma" panose="020B0604030504040204" pitchFamily="34" charset="0"/>
                  </a:rPr>
                  <a:t>Shoe Fast </a:t>
                </a:r>
              </a:p>
            </p:txBody>
          </p:sp>
        </p:grpSp>
        <p:grpSp>
          <p:nvGrpSpPr>
            <p:cNvPr id="45" name="Groupe 44">
              <a:extLst>
                <a:ext uri="{FF2B5EF4-FFF2-40B4-BE49-F238E27FC236}">
                  <a16:creationId xmlns:a16="http://schemas.microsoft.com/office/drawing/2014/main" id="{3BA2C36F-26AC-31A0-2714-AF49719A8E0D}"/>
                </a:ext>
              </a:extLst>
            </p:cNvPr>
            <p:cNvGrpSpPr/>
            <p:nvPr/>
          </p:nvGrpSpPr>
          <p:grpSpPr>
            <a:xfrm>
              <a:off x="9774156" y="2738205"/>
              <a:ext cx="1661629" cy="492443"/>
              <a:chOff x="8681926" y="1672743"/>
              <a:chExt cx="1836727" cy="492443"/>
            </a:xfrm>
          </p:grpSpPr>
          <p:sp>
            <p:nvSpPr>
              <p:cNvPr id="46" name="Rounded Rectangle">
                <a:extLst>
                  <a:ext uri="{FF2B5EF4-FFF2-40B4-BE49-F238E27FC236}">
                    <a16:creationId xmlns:a16="http://schemas.microsoft.com/office/drawing/2014/main" id="{96AFE2CC-D421-6B25-43F4-7E5199D70779}"/>
                  </a:ext>
                </a:extLst>
              </p:cNvPr>
              <p:cNvSpPr/>
              <p:nvPr/>
            </p:nvSpPr>
            <p:spPr>
              <a:xfrm>
                <a:off x="8795416" y="1672743"/>
                <a:ext cx="1648761" cy="492443"/>
              </a:xfrm>
              <a:prstGeom prst="roundRect">
                <a:avLst>
                  <a:gd name="adj" fmla="val 10005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 w="3175"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1547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F2B53456-5F51-E700-E0AC-D1BD4BBD9025}"/>
                  </a:ext>
                </a:extLst>
              </p:cNvPr>
              <p:cNvSpPr txBox="1"/>
              <p:nvPr/>
            </p:nvSpPr>
            <p:spPr>
              <a:xfrm>
                <a:off x="8681926" y="1772583"/>
                <a:ext cx="183672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DO-Sans" panose="00000500000000000000" pitchFamily="50" charset="0"/>
                    <a:ea typeface="Tahoma" panose="020B0604030504040204" pitchFamily="34" charset="0"/>
                    <a:cs typeface="Tahoma" panose="020B0604030504040204" pitchFamily="34" charset="0"/>
                  </a:rPr>
                  <a:t>Barefoot Pref </a:t>
                </a:r>
              </a:p>
            </p:txBody>
          </p:sp>
        </p:grpSp>
        <p:grpSp>
          <p:nvGrpSpPr>
            <p:cNvPr id="48" name="Groupe 47">
              <a:extLst>
                <a:ext uri="{FF2B5EF4-FFF2-40B4-BE49-F238E27FC236}">
                  <a16:creationId xmlns:a16="http://schemas.microsoft.com/office/drawing/2014/main" id="{324F697F-177E-5178-C637-0F71A748D925}"/>
                </a:ext>
              </a:extLst>
            </p:cNvPr>
            <p:cNvGrpSpPr/>
            <p:nvPr/>
          </p:nvGrpSpPr>
          <p:grpSpPr>
            <a:xfrm>
              <a:off x="9774156" y="3354443"/>
              <a:ext cx="1661629" cy="492443"/>
              <a:chOff x="8681926" y="1672743"/>
              <a:chExt cx="1836727" cy="492443"/>
            </a:xfrm>
          </p:grpSpPr>
          <p:sp>
            <p:nvSpPr>
              <p:cNvPr id="49" name="Rounded Rectangle">
                <a:extLst>
                  <a:ext uri="{FF2B5EF4-FFF2-40B4-BE49-F238E27FC236}">
                    <a16:creationId xmlns:a16="http://schemas.microsoft.com/office/drawing/2014/main" id="{07AE56EC-AAF6-6D88-C698-CB9CC01B4622}"/>
                  </a:ext>
                </a:extLst>
              </p:cNvPr>
              <p:cNvSpPr/>
              <p:nvPr/>
            </p:nvSpPr>
            <p:spPr>
              <a:xfrm>
                <a:off x="8795416" y="1672743"/>
                <a:ext cx="1648761" cy="492443"/>
              </a:xfrm>
              <a:prstGeom prst="roundRect">
                <a:avLst>
                  <a:gd name="adj" fmla="val 10005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 w="3175">
                <a:miter lim="400000"/>
              </a:ln>
            </p:spPr>
            <p:txBody>
              <a:bodyPr lIns="0" tIns="0" rIns="0" bIns="0" anchor="ctr"/>
              <a:lstStyle/>
              <a:p>
                <a:pPr>
                  <a:defRPr sz="2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1547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50A75110-9510-2421-0AF1-4490600D5C07}"/>
                  </a:ext>
                </a:extLst>
              </p:cNvPr>
              <p:cNvSpPr txBox="1"/>
              <p:nvPr/>
            </p:nvSpPr>
            <p:spPr>
              <a:xfrm>
                <a:off x="8681926" y="1772583"/>
                <a:ext cx="183672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latin typeface="DO-Sans" panose="00000500000000000000" pitchFamily="50" charset="0"/>
                    <a:ea typeface="Tahoma" panose="020B0604030504040204" pitchFamily="34" charset="0"/>
                    <a:cs typeface="Tahoma" panose="020B0604030504040204" pitchFamily="34" charset="0"/>
                  </a:rPr>
                  <a:t>Shoe Pref </a:t>
                </a:r>
              </a:p>
            </p:txBody>
          </p:sp>
        </p:grp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26A67EE4-DAD6-6BBD-0E13-A9768BA19A40}"/>
                </a:ext>
              </a:extLst>
            </p:cNvPr>
            <p:cNvSpPr txBox="1"/>
            <p:nvPr/>
          </p:nvSpPr>
          <p:spPr>
            <a:xfrm>
              <a:off x="8434067" y="4538551"/>
              <a:ext cx="2814931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DO-Sans" panose="00000500000000000000" pitchFamily="50" charset="0"/>
                </a:rPr>
                <a:t>Protocol</a:t>
              </a:r>
            </a:p>
            <a:p>
              <a:pPr algn="ctr"/>
              <a:endParaRPr lang="en-US" sz="1400" dirty="0">
                <a:latin typeface="DO-Sans" panose="00000500000000000000" pitchFamily="50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DO-Sans" panose="00000500000000000000" pitchFamily="50" charset="0"/>
                </a:rPr>
                <a:t>4 walking trials per patient</a:t>
              </a:r>
            </a:p>
          </p:txBody>
        </p:sp>
      </p:grp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34941E-7BCE-557A-F844-ECBC5360B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1275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Signal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1612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rgbClr val="F0F3F4"/>
                </a:solidFill>
                <a:latin typeface="Helvetica" panose="020B0604020202020204" pitchFamily="2" charset="0"/>
              </a:rPr>
              <a:t>Low-pass filtering</a:t>
            </a:r>
          </a:p>
        </p:txBody>
      </p:sp>
      <p:pic>
        <p:nvPicPr>
          <p:cNvPr id="6" name="Picture 5" descr="psd_filter_justif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98" y="2172229"/>
            <a:ext cx="4354746" cy="277597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15A35E9-9346-94DB-83B1-4D28181E32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425" r="47368"/>
          <a:stretch>
            <a:fillRect/>
          </a:stretch>
        </p:blipFill>
        <p:spPr>
          <a:xfrm>
            <a:off x="6172200" y="2247900"/>
            <a:ext cx="4838700" cy="270030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1FD4100-8AC1-BDCD-04CC-08CE8C5004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632" t="9425"/>
          <a:stretch>
            <a:fillRect/>
          </a:stretch>
        </p:blipFill>
        <p:spPr>
          <a:xfrm>
            <a:off x="6618054" y="2247900"/>
            <a:ext cx="4354746" cy="2700304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4E554584-28AA-E176-590B-5CDDD09D6442}"/>
              </a:ext>
            </a:extLst>
          </p:cNvPr>
          <p:cNvSpPr txBox="1"/>
          <p:nvPr/>
        </p:nvSpPr>
        <p:spPr>
          <a:xfrm>
            <a:off x="907178" y="5378734"/>
            <a:ext cx="41635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effectLst/>
                <a:latin typeface="DO-Sans" panose="00000500000000000000" pitchFamily="50" charset="0"/>
              </a:rPr>
              <a:t>Power Spectral Density of knee gyroscope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E33B6DB-9D49-6E23-D40D-210C2EEEF06E}"/>
              </a:ext>
            </a:extLst>
          </p:cNvPr>
          <p:cNvSpPr txBox="1"/>
          <p:nvPr/>
        </p:nvSpPr>
        <p:spPr>
          <a:xfrm>
            <a:off x="6327771" y="5388877"/>
            <a:ext cx="5102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>
                <a:effectLst/>
                <a:latin typeface="DO-Sans" panose="00000500000000000000" pitchFamily="50" charset="0"/>
              </a:rPr>
              <a:t>Filtered angular velocity signal (10 Hz low-pass)</a:t>
            </a:r>
          </a:p>
        </p:txBody>
      </p:sp>
      <p:sp>
        <p:nvSpPr>
          <p:cNvPr id="15" name="Espace réservé du numéro de diapositive 14">
            <a:extLst>
              <a:ext uri="{FF2B5EF4-FFF2-40B4-BE49-F238E27FC236}">
                <a16:creationId xmlns:a16="http://schemas.microsoft.com/office/drawing/2014/main" id="{12B86182-BB5B-279F-9D0A-F423F8ABF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79598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D329A-3E44-32D5-D2CD-3B2C85583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>
            <a:extLst>
              <a:ext uri="{FF2B5EF4-FFF2-40B4-BE49-F238E27FC236}">
                <a16:creationId xmlns:a16="http://schemas.microsoft.com/office/drawing/2014/main" id="{E95B54E4-B040-A439-019B-466373B16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3199" y="2119375"/>
            <a:ext cx="2375455" cy="2955719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471DBA69-BF94-9AB2-E274-E8C841361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3198" y="2117551"/>
            <a:ext cx="2375455" cy="2955719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13A7C18A-FACE-055E-DB28-F0CD9296A2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3199" y="2115727"/>
            <a:ext cx="2375455" cy="295571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D6CBBC3-0D8F-F78C-56E7-56923D6FEA6C}"/>
              </a:ext>
            </a:extLst>
          </p:cNvPr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B2BB8E-681B-D457-1C2D-C5442D3AB4B9}"/>
              </a:ext>
            </a:extLst>
          </p:cNvPr>
          <p:cNvSpPr txBox="1"/>
          <p:nvPr/>
        </p:nvSpPr>
        <p:spPr>
          <a:xfrm>
            <a:off x="274320" y="73152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Signal Preprocessing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67F5AB-12A2-5270-840C-2E388351931C}"/>
              </a:ext>
            </a:extLst>
          </p:cNvPr>
          <p:cNvSpPr txBox="1"/>
          <p:nvPr/>
        </p:nvSpPr>
        <p:spPr>
          <a:xfrm>
            <a:off x="274320" y="749808"/>
            <a:ext cx="11612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i="1" dirty="0">
                <a:solidFill>
                  <a:srgbClr val="F0F3F4"/>
                </a:solidFill>
                <a:latin typeface="Helvetica" panose="020B0604020202020204" pitchFamily="2" charset="0"/>
              </a:rPr>
              <a:t>Calibration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9A22D39-1DB4-13E1-2B07-8AC0D7C7F62F}"/>
              </a:ext>
            </a:extLst>
          </p:cNvPr>
          <p:cNvSpPr txBox="1"/>
          <p:nvPr/>
        </p:nvSpPr>
        <p:spPr>
          <a:xfrm>
            <a:off x="3761258" y="3758663"/>
            <a:ext cx="1858427" cy="30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664" indent="-285664">
              <a:buFont typeface="Arial" panose="020B0604020202020204" pitchFamily="34" charset="0"/>
              <a:buChar char="•"/>
            </a:pPr>
            <a:r>
              <a:rPr lang="en-US" sz="1400" dirty="0">
                <a:latin typeface="DO-Sans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rPr>
              <a:t>Global Frame</a:t>
            </a:r>
            <a:endParaRPr lang="fr-FR" sz="1400" dirty="0">
              <a:latin typeface="DO-Sans" panose="00000500000000000000" pitchFamily="50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1C04733-7807-0D84-9BC8-E0309FD07136}"/>
              </a:ext>
            </a:extLst>
          </p:cNvPr>
          <p:cNvSpPr txBox="1"/>
          <p:nvPr/>
        </p:nvSpPr>
        <p:spPr>
          <a:xfrm>
            <a:off x="3761258" y="3278992"/>
            <a:ext cx="1974659" cy="30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664" indent="-285664">
              <a:buFont typeface="Arial" panose="020B0604020202020204" pitchFamily="34" charset="0"/>
              <a:buChar char="•"/>
            </a:pPr>
            <a:r>
              <a:rPr lang="en-US" sz="1400" dirty="0">
                <a:latin typeface="DO-Sans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rPr>
              <a:t>Body Frame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B60F769-B1AC-ACF6-6074-8FBB51AA4204}"/>
              </a:ext>
            </a:extLst>
          </p:cNvPr>
          <p:cNvSpPr txBox="1"/>
          <p:nvPr/>
        </p:nvSpPr>
        <p:spPr>
          <a:xfrm>
            <a:off x="3761258" y="2839990"/>
            <a:ext cx="1771251" cy="30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664" indent="-285664">
              <a:buFont typeface="Arial" panose="020B0604020202020204" pitchFamily="34" charset="0"/>
              <a:buChar char="•"/>
            </a:pPr>
            <a:r>
              <a:rPr lang="en-US" sz="1400" dirty="0">
                <a:latin typeface="DO-Sans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rPr>
              <a:t>Sensor Frame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C4AA01B-709F-B087-F51F-591BB678866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469"/>
          <a:stretch>
            <a:fillRect/>
          </a:stretch>
        </p:blipFill>
        <p:spPr>
          <a:xfrm>
            <a:off x="1021709" y="2252698"/>
            <a:ext cx="2681405" cy="2715244"/>
          </a:xfrm>
          <a:prstGeom prst="rect">
            <a:avLst/>
          </a:prstGeom>
        </p:spPr>
      </p:pic>
      <p:sp>
        <p:nvSpPr>
          <p:cNvPr id="18" name="Ellipse 17">
            <a:extLst>
              <a:ext uri="{FF2B5EF4-FFF2-40B4-BE49-F238E27FC236}">
                <a16:creationId xmlns:a16="http://schemas.microsoft.com/office/drawing/2014/main" id="{52B189DF-44E4-9DDE-E054-D4159B4983DC}"/>
              </a:ext>
            </a:extLst>
          </p:cNvPr>
          <p:cNvSpPr/>
          <p:nvPr/>
        </p:nvSpPr>
        <p:spPr>
          <a:xfrm>
            <a:off x="1072973" y="4155369"/>
            <a:ext cx="807348" cy="907510"/>
          </a:xfrm>
          <a:prstGeom prst="ellipse">
            <a:avLst/>
          </a:prstGeom>
          <a:noFill/>
          <a:ln w="2857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FR" sz="1600" dirty="0">
              <a:latin typeface="DO-Sans" panose="00000500000000000000" pitchFamily="50" charset="0"/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7156F56C-3BD9-8017-D3DD-4CC814454476}"/>
              </a:ext>
            </a:extLst>
          </p:cNvPr>
          <p:cNvSpPr/>
          <p:nvPr/>
        </p:nvSpPr>
        <p:spPr>
          <a:xfrm>
            <a:off x="2646236" y="2388486"/>
            <a:ext cx="600097" cy="626114"/>
          </a:xfrm>
          <a:prstGeom prst="ellipse">
            <a:avLst/>
          </a:prstGeom>
          <a:noFill/>
          <a:ln w="2857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FR" sz="1600" dirty="0">
              <a:latin typeface="DO-Sans" panose="00000500000000000000" pitchFamily="50" charset="0"/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91FB794E-0297-6262-459C-84399C0B3701}"/>
              </a:ext>
            </a:extLst>
          </p:cNvPr>
          <p:cNvSpPr/>
          <p:nvPr/>
        </p:nvSpPr>
        <p:spPr>
          <a:xfrm>
            <a:off x="2588092" y="3014599"/>
            <a:ext cx="559412" cy="626114"/>
          </a:xfrm>
          <a:prstGeom prst="ellipse">
            <a:avLst/>
          </a:prstGeom>
          <a:noFill/>
          <a:ln w="28575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FR" sz="1600" dirty="0">
              <a:latin typeface="DO-Sans" panose="00000500000000000000" pitchFamily="50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E49FE9F-BB8F-8867-F1C4-40C98737077F}"/>
              </a:ext>
            </a:extLst>
          </p:cNvPr>
          <p:cNvSpPr txBox="1"/>
          <p:nvPr/>
        </p:nvSpPr>
        <p:spPr>
          <a:xfrm>
            <a:off x="6367219" y="2330096"/>
            <a:ext cx="2375455" cy="461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DO-Sans" panose="00000500000000000000" pitchFamily="50" charset="0"/>
              </a:rPr>
              <a:t>Sensor → body </a:t>
            </a:r>
          </a:p>
          <a:p>
            <a:pPr algn="ctr"/>
            <a:r>
              <a:rPr lang="en-US" sz="1200" dirty="0">
                <a:latin typeface="DO-Sans" panose="00000500000000000000" pitchFamily="50" charset="0"/>
              </a:rPr>
              <a:t>frame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B3045E13-35E4-4CD7-E4C6-B319E23626C5}"/>
              </a:ext>
            </a:extLst>
          </p:cNvPr>
          <p:cNvSpPr txBox="1"/>
          <p:nvPr/>
        </p:nvSpPr>
        <p:spPr>
          <a:xfrm>
            <a:off x="9445337" y="4832106"/>
            <a:ext cx="1831952" cy="461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DO-Sans" panose="00000500000000000000" pitchFamily="50" charset="0"/>
              </a:rPr>
              <a:t>Body → global </a:t>
            </a:r>
          </a:p>
          <a:p>
            <a:pPr algn="ctr"/>
            <a:r>
              <a:rPr lang="en-US" sz="1200" dirty="0">
                <a:latin typeface="DO-Sans" panose="00000500000000000000" pitchFamily="50" charset="0"/>
              </a:rPr>
              <a:t>frame</a:t>
            </a:r>
          </a:p>
        </p:txBody>
      </p:sp>
      <p:sp>
        <p:nvSpPr>
          <p:cNvPr id="32" name="Espace réservé du numéro de diapositive 31">
            <a:extLst>
              <a:ext uri="{FF2B5EF4-FFF2-40B4-BE49-F238E27FC236}">
                <a16:creationId xmlns:a16="http://schemas.microsoft.com/office/drawing/2014/main" id="{3B26DF02-1E0C-3328-2971-BED719FFB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098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18" grpId="0" animBg="1"/>
      <p:bldP spid="19" grpId="0" animBg="1"/>
      <p:bldP spid="20" grpId="0" animBg="1"/>
      <p:bldP spid="16" grpId="0"/>
      <p:bldP spid="27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Swing Phase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" y="749808"/>
            <a:ext cx="121888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rgbClr val="F0F3F4"/>
                </a:solidFill>
                <a:latin typeface="Helvetica" panose="020B0604020202020204" pitchFamily="2" charset="0"/>
              </a:rPr>
              <a:t>Finite state machine on gravity-compensated foot acceleration</a:t>
            </a:r>
          </a:p>
        </p:txBody>
      </p:sp>
      <p:pic>
        <p:nvPicPr>
          <p:cNvPr id="57" name="Image 56">
            <a:extLst>
              <a:ext uri="{FF2B5EF4-FFF2-40B4-BE49-F238E27FC236}">
                <a16:creationId xmlns:a16="http://schemas.microsoft.com/office/drawing/2014/main" id="{413B4F91-BA84-A033-3D14-B386C0A34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13" y="2009774"/>
            <a:ext cx="6495598" cy="3199021"/>
          </a:xfrm>
          <a:prstGeom prst="rect">
            <a:avLst/>
          </a:prstGeom>
        </p:spPr>
      </p:pic>
      <p:pic>
        <p:nvPicPr>
          <p:cNvPr id="63" name="Image 62">
            <a:extLst>
              <a:ext uri="{FF2B5EF4-FFF2-40B4-BE49-F238E27FC236}">
                <a16:creationId xmlns:a16="http://schemas.microsoft.com/office/drawing/2014/main" id="{44ADA423-0B42-1A14-0CDF-D407A553F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13" y="2009774"/>
            <a:ext cx="6495598" cy="3199021"/>
          </a:xfrm>
          <a:prstGeom prst="rect">
            <a:avLst/>
          </a:prstGeom>
        </p:spPr>
      </p:pic>
      <p:pic>
        <p:nvPicPr>
          <p:cNvPr id="66" name="Image 65">
            <a:extLst>
              <a:ext uri="{FF2B5EF4-FFF2-40B4-BE49-F238E27FC236}">
                <a16:creationId xmlns:a16="http://schemas.microsoft.com/office/drawing/2014/main" id="{A12F4CD7-DF00-3A05-827A-E04F70A0C3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513" y="2009774"/>
            <a:ext cx="6495598" cy="3199021"/>
          </a:xfrm>
          <a:prstGeom prst="rect">
            <a:avLst/>
          </a:prstGeom>
        </p:spPr>
      </p:pic>
      <p:pic>
        <p:nvPicPr>
          <p:cNvPr id="69" name="Image 68">
            <a:extLst>
              <a:ext uri="{FF2B5EF4-FFF2-40B4-BE49-F238E27FC236}">
                <a16:creationId xmlns:a16="http://schemas.microsoft.com/office/drawing/2014/main" id="{02B86266-4EBA-B8C7-919F-B650288B71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513" y="2009774"/>
            <a:ext cx="6495598" cy="3199021"/>
          </a:xfrm>
          <a:prstGeom prst="rect">
            <a:avLst/>
          </a:prstGeom>
        </p:spPr>
      </p:pic>
      <p:pic>
        <p:nvPicPr>
          <p:cNvPr id="72" name="Image 71">
            <a:extLst>
              <a:ext uri="{FF2B5EF4-FFF2-40B4-BE49-F238E27FC236}">
                <a16:creationId xmlns:a16="http://schemas.microsoft.com/office/drawing/2014/main" id="{C96424E1-4664-3644-2880-7F8F63AD40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513" y="2009774"/>
            <a:ext cx="6495598" cy="3199021"/>
          </a:xfrm>
          <a:prstGeom prst="rect">
            <a:avLst/>
          </a:prstGeom>
        </p:spPr>
      </p:pic>
      <p:pic>
        <p:nvPicPr>
          <p:cNvPr id="75" name="Image 74">
            <a:extLst>
              <a:ext uri="{FF2B5EF4-FFF2-40B4-BE49-F238E27FC236}">
                <a16:creationId xmlns:a16="http://schemas.microsoft.com/office/drawing/2014/main" id="{78135787-DBBF-F80B-F0E1-68F16F4196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513" y="2009774"/>
            <a:ext cx="6495598" cy="3199021"/>
          </a:xfrm>
          <a:prstGeom prst="rect">
            <a:avLst/>
          </a:prstGeom>
        </p:spPr>
      </p:pic>
      <p:sp>
        <p:nvSpPr>
          <p:cNvPr id="76" name="ZoneTexte 75">
            <a:extLst>
              <a:ext uri="{FF2B5EF4-FFF2-40B4-BE49-F238E27FC236}">
                <a16:creationId xmlns:a16="http://schemas.microsoft.com/office/drawing/2014/main" id="{8F9EF21B-E16F-163C-C1FE-D603D217584E}"/>
              </a:ext>
            </a:extLst>
          </p:cNvPr>
          <p:cNvSpPr txBox="1"/>
          <p:nvPr/>
        </p:nvSpPr>
        <p:spPr>
          <a:xfrm>
            <a:off x="7162800" y="2305050"/>
            <a:ext cx="5026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DO-Sans" panose="00000500000000000000" pitchFamily="50" charset="0"/>
              </a:rPr>
              <a:t>Dh : high threshold: D must exceed this to start a swing</a:t>
            </a:r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C4EB52A9-5802-1257-9046-C8EC91BC0C00}"/>
              </a:ext>
            </a:extLst>
          </p:cNvPr>
          <p:cNvSpPr txBox="1"/>
          <p:nvPr/>
        </p:nvSpPr>
        <p:spPr>
          <a:xfrm>
            <a:off x="7162800" y="2842141"/>
            <a:ext cx="5026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DO-Sans" panose="00000500000000000000" pitchFamily="50" charset="0"/>
              </a:rPr>
              <a:t>Dl : low threshold: D must drop below this to end a swing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14367371-B523-E933-232A-4B7534776771}"/>
              </a:ext>
            </a:extLst>
          </p:cNvPr>
          <p:cNvSpPr txBox="1"/>
          <p:nvPr/>
        </p:nvSpPr>
        <p:spPr>
          <a:xfrm>
            <a:off x="7162800" y="3379232"/>
            <a:ext cx="5026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>
                <a:latin typeface="DO-Sans" panose="00000500000000000000" pitchFamily="50" charset="0"/>
              </a:rPr>
              <a:t>Ds : negative threshold: D must also dip below Ds</a:t>
            </a:r>
            <a:endParaRPr lang="en-US" sz="1400" dirty="0">
              <a:latin typeface="DO-Sans" panose="00000500000000000000" pitchFamily="50" charset="0"/>
            </a:endParaRPr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241A4D59-DD7C-56C3-E5E0-FD7205AA8169}"/>
              </a:ext>
            </a:extLst>
          </p:cNvPr>
          <p:cNvSpPr txBox="1"/>
          <p:nvPr/>
        </p:nvSpPr>
        <p:spPr>
          <a:xfrm>
            <a:off x="7162800" y="3916323"/>
            <a:ext cx="5026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>
                <a:latin typeface="DO-Sans" panose="00000500000000000000" pitchFamily="50" charset="0"/>
              </a:rPr>
              <a:t>Tm : minimum pulse duration (samples) to count as a swing</a:t>
            </a:r>
            <a:endParaRPr lang="en-US" sz="1400" dirty="0">
              <a:latin typeface="DO-Sans" panose="00000500000000000000" pitchFamily="50" charset="0"/>
            </a:endParaRP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8EE2D28F-472E-EAC7-3827-BABC73CDC893}"/>
              </a:ext>
            </a:extLst>
          </p:cNvPr>
          <p:cNvSpPr txBox="1"/>
          <p:nvPr/>
        </p:nvSpPr>
        <p:spPr>
          <a:xfrm>
            <a:off x="7162800" y="4453414"/>
            <a:ext cx="5026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>
                <a:latin typeface="DO-Sans" panose="00000500000000000000" pitchFamily="50" charset="0"/>
              </a:rPr>
              <a:t>Td : minimum gap between consecutive swing events</a:t>
            </a:r>
            <a:endParaRPr lang="en-US" sz="1400" dirty="0">
              <a:latin typeface="DO-Sans" panose="00000500000000000000" pitchFamily="50" charset="0"/>
            </a:endParaRPr>
          </a:p>
        </p:txBody>
      </p:sp>
      <p:pic>
        <p:nvPicPr>
          <p:cNvPr id="81" name="Image 80">
            <a:extLst>
              <a:ext uri="{FF2B5EF4-FFF2-40B4-BE49-F238E27FC236}">
                <a16:creationId xmlns:a16="http://schemas.microsoft.com/office/drawing/2014/main" id="{2B16421B-87C4-483D-DBA9-9BFD3048E10B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CrisscrossEtching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925" t="15527" r="17516" b="31613"/>
          <a:stretch>
            <a:fillRect/>
          </a:stretch>
        </p:blipFill>
        <p:spPr>
          <a:xfrm>
            <a:off x="435513" y="5208794"/>
            <a:ext cx="6495598" cy="1474107"/>
          </a:xfrm>
          <a:prstGeom prst="rect">
            <a:avLst/>
          </a:prstGeom>
        </p:spPr>
      </p:pic>
      <p:sp>
        <p:nvSpPr>
          <p:cNvPr id="84" name="Espace réservé du numéro de diapositive 83">
            <a:extLst>
              <a:ext uri="{FF2B5EF4-FFF2-40B4-BE49-F238E27FC236}">
                <a16:creationId xmlns:a16="http://schemas.microsoft.com/office/drawing/2014/main" id="{72928961-D059-836F-3D34-065DB668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77" grpId="0"/>
      <p:bldP spid="78" grpId="0"/>
      <p:bldP spid="79" grpId="0"/>
      <p:bldP spid="8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67B72-DC87-B325-098D-F4D4EB0A8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5A61E6-84CC-BCD3-2064-0AA2AD1650C8}"/>
              </a:ext>
            </a:extLst>
          </p:cNvPr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41F6E1-5D6D-68BD-76B4-21A0E4D8916E}"/>
              </a:ext>
            </a:extLst>
          </p:cNvPr>
          <p:cNvSpPr txBox="1"/>
          <p:nvPr/>
        </p:nvSpPr>
        <p:spPr>
          <a:xfrm>
            <a:off x="274320" y="73152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Swing Phase Detection</a:t>
            </a:r>
          </a:p>
        </p:txBody>
      </p:sp>
      <p:pic>
        <p:nvPicPr>
          <p:cNvPr id="24" name="Picture 22" descr="17pma_foot_acceleration.png">
            <a:extLst>
              <a:ext uri="{FF2B5EF4-FFF2-40B4-BE49-F238E27FC236}">
                <a16:creationId xmlns:a16="http://schemas.microsoft.com/office/drawing/2014/main" id="{D2CD5320-7237-FE57-F25B-97437EBD32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304"/>
          <a:stretch>
            <a:fillRect/>
          </a:stretch>
        </p:blipFill>
        <p:spPr>
          <a:xfrm>
            <a:off x="381843" y="2366051"/>
            <a:ext cx="5498641" cy="2457214"/>
          </a:xfrm>
          <a:prstGeom prst="rect">
            <a:avLst/>
          </a:prstGeom>
        </p:spPr>
      </p:pic>
      <p:pic>
        <p:nvPicPr>
          <p:cNvPr id="25" name="Picture 22" descr="17pma_foot_acceleration.png">
            <a:extLst>
              <a:ext uri="{FF2B5EF4-FFF2-40B4-BE49-F238E27FC236}">
                <a16:creationId xmlns:a16="http://schemas.microsoft.com/office/drawing/2014/main" id="{0423659D-A2B9-878E-24C1-E98BAC1D61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949"/>
          <a:stretch>
            <a:fillRect/>
          </a:stretch>
        </p:blipFill>
        <p:spPr>
          <a:xfrm>
            <a:off x="6080760" y="2366051"/>
            <a:ext cx="5498641" cy="2681526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68544D22-59D1-0F52-CC5A-685DD8637756}"/>
              </a:ext>
            </a:extLst>
          </p:cNvPr>
          <p:cNvSpPr txBox="1"/>
          <p:nvPr/>
        </p:nvSpPr>
        <p:spPr>
          <a:xfrm>
            <a:off x="-1" y="749808"/>
            <a:ext cx="121888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rgbClr val="F0F3F4"/>
                </a:solidFill>
                <a:latin typeface="Helvetica" panose="020B0604020202020204" pitchFamily="2" charset="0"/>
              </a:rPr>
              <a:t>Finite state machine on gravity-compensated foot acceleration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4C2795B-1C0C-4832-C192-EF1F7042E7C2}"/>
              </a:ext>
            </a:extLst>
          </p:cNvPr>
          <p:cNvSpPr txBox="1"/>
          <p:nvPr/>
        </p:nvSpPr>
        <p:spPr>
          <a:xfrm>
            <a:off x="3012844" y="5308017"/>
            <a:ext cx="61358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1" dirty="0">
                <a:effectLst/>
                <a:latin typeface="DO-Sans" panose="00000500000000000000" pitchFamily="50" charset="0"/>
              </a:rPr>
              <a:t>Patient 17-MA - Barefoot preferred walk:</a:t>
            </a:r>
          </a:p>
          <a:p>
            <a:pPr algn="ctr"/>
            <a:r>
              <a:rPr lang="en-US" b="0" i="1" dirty="0">
                <a:effectLst/>
                <a:latin typeface="DO-Sans" panose="00000500000000000000" pitchFamily="50" charset="0"/>
              </a:rPr>
              <a:t> affected (left, red)  vs. non-paretic (right, blue)</a:t>
            </a:r>
            <a:endParaRPr lang="en-US" dirty="0">
              <a:latin typeface="DO-Sans" panose="00000500000000000000" pitchFamily="50" charset="0"/>
            </a:endParaRP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E2E531C-B382-59CE-3FA0-BE98BC4F3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69207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478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Subject-Specific Parameter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1612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rgbClr val="F0F3F4"/>
                </a:solidFill>
              </a:rPr>
              <a:t>Nelder-Mead optimization against reference gait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468" y="1379265"/>
            <a:ext cx="5607924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600" b="1" dirty="0">
                <a:solidFill>
                  <a:srgbClr val="2E86AB"/>
                </a:solidFill>
                <a:latin typeface="DO-Sans" panose="00000500000000000000" pitchFamily="50" charset="0"/>
              </a:rPr>
              <a:t>D</a:t>
            </a:r>
            <a:r>
              <a:rPr sz="1600" b="1" dirty="0" err="1">
                <a:solidFill>
                  <a:srgbClr val="2E86AB"/>
                </a:solidFill>
                <a:latin typeface="DO-Sans" panose="00000500000000000000" pitchFamily="50" charset="0"/>
              </a:rPr>
              <a:t>efault</a:t>
            </a:r>
            <a:r>
              <a:rPr sz="1600" b="1" dirty="0">
                <a:solidFill>
                  <a:srgbClr val="2E86AB"/>
                </a:solidFill>
                <a:latin typeface="DO-Sans" panose="00000500000000000000" pitchFamily="50" charset="0"/>
              </a:rPr>
              <a:t> parameters fail:</a:t>
            </a:r>
          </a:p>
          <a:p>
            <a:pPr algn="l">
              <a:lnSpc>
                <a:spcPct val="150000"/>
              </a:lnSpc>
            </a:pPr>
            <a:r>
              <a:rPr sz="1400" dirty="0">
                <a:solidFill>
                  <a:srgbClr val="1A2744"/>
                </a:solidFill>
                <a:latin typeface="DO-Sans" panose="00000500000000000000" pitchFamily="50" charset="0"/>
              </a:rPr>
              <a:t>  • Default θ₀ = [100, 30, -300, 30, 10] works for healthy gait</a:t>
            </a:r>
          </a:p>
          <a:p>
            <a:pPr algn="l"/>
            <a:r>
              <a:rPr sz="1400" dirty="0">
                <a:solidFill>
                  <a:srgbClr val="1A2744"/>
                </a:solidFill>
                <a:latin typeface="DO-Sans" panose="00000500000000000000" pitchFamily="50" charset="0"/>
              </a:rPr>
              <a:t>  • Hemiparetic patients: attenuated peaks, prolonged ground contact</a:t>
            </a:r>
          </a:p>
          <a:p>
            <a:pPr algn="l"/>
            <a:r>
              <a:rPr sz="1400" dirty="0">
                <a:solidFill>
                  <a:srgbClr val="1A2744"/>
                </a:solidFill>
                <a:latin typeface="DO-Sans" panose="00000500000000000000" pitchFamily="50" charset="0"/>
              </a:rPr>
              <a:t>  • Each patient has a unique pathological gait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468" y="2956931"/>
            <a:ext cx="740664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b="1" dirty="0">
                <a:solidFill>
                  <a:srgbClr val="2E86AB"/>
                </a:solidFill>
                <a:latin typeface="DO-Sans" panose="00000500000000000000" pitchFamily="50" charset="0"/>
              </a:rPr>
              <a:t>Optimization algorithm:</a:t>
            </a:r>
          </a:p>
          <a:p>
            <a:pPr algn="l">
              <a:lnSpc>
                <a:spcPct val="150000"/>
              </a:lnSpc>
            </a:pPr>
            <a:r>
              <a:rPr sz="1400" dirty="0">
                <a:solidFill>
                  <a:srgbClr val="1A2744"/>
                </a:solidFill>
                <a:latin typeface="DO-Sans" panose="00000500000000000000" pitchFamily="50" charset="0"/>
              </a:rPr>
              <a:t>  • Nelder-Mead simplex (gradient-free → handles FSM discontinuities)</a:t>
            </a:r>
          </a:p>
          <a:p>
            <a:pPr algn="l"/>
            <a:r>
              <a:rPr sz="1400" dirty="0">
                <a:solidFill>
                  <a:srgbClr val="1A2744"/>
                </a:solidFill>
                <a:latin typeface="DO-Sans" panose="00000500000000000000" pitchFamily="50" charset="0"/>
              </a:rPr>
              <a:t>  • Physiological bounds: Dh∈[50,200], Dl∈[10,80], Ds∈[-500,-100], Tm∈[15,80], Td∈[5,30]</a:t>
            </a:r>
          </a:p>
        </p:txBody>
      </p:sp>
      <p:pic>
        <p:nvPicPr>
          <p:cNvPr id="1026" name="Picture 2" descr="Nelder-Mead Optimization | Sachin Joglekar's blog">
            <a:extLst>
              <a:ext uri="{FF2B5EF4-FFF2-40B4-BE49-F238E27FC236}">
                <a16:creationId xmlns:a16="http://schemas.microsoft.com/office/drawing/2014/main" id="{16BC238C-AED1-0AC6-DA34-3603AB5B9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222" y="2007076"/>
            <a:ext cx="4172507" cy="312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e 11">
            <a:extLst>
              <a:ext uri="{FF2B5EF4-FFF2-40B4-BE49-F238E27FC236}">
                <a16:creationId xmlns:a16="http://schemas.microsoft.com/office/drawing/2014/main" id="{50057127-6E64-08DF-A933-59C573F16BC9}"/>
              </a:ext>
            </a:extLst>
          </p:cNvPr>
          <p:cNvGrpSpPr/>
          <p:nvPr/>
        </p:nvGrpSpPr>
        <p:grpSpPr>
          <a:xfrm>
            <a:off x="879592" y="4567437"/>
            <a:ext cx="5019675" cy="1828800"/>
            <a:chOff x="1381125" y="2571750"/>
            <a:chExt cx="5124450" cy="1828800"/>
          </a:xfrm>
        </p:grpSpPr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AD49B226-D35A-ED9A-76A9-5E7B49404D72}"/>
                </a:ext>
              </a:extLst>
            </p:cNvPr>
            <p:cNvSpPr txBox="1"/>
            <p:nvPr/>
          </p:nvSpPr>
          <p:spPr>
            <a:xfrm>
              <a:off x="1381125" y="2571750"/>
              <a:ext cx="5124450" cy="1828800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prstDash val="lgDash"/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grpSp>
          <p:nvGrpSpPr>
            <p:cNvPr id="24" name="Groupe 23">
              <a:extLst>
                <a:ext uri="{FF2B5EF4-FFF2-40B4-BE49-F238E27FC236}">
                  <a16:creationId xmlns:a16="http://schemas.microsoft.com/office/drawing/2014/main" id="{E9384992-BAA5-4D3D-3284-25AFF127777D}"/>
                </a:ext>
              </a:extLst>
            </p:cNvPr>
            <p:cNvGrpSpPr/>
            <p:nvPr/>
          </p:nvGrpSpPr>
          <p:grpSpPr>
            <a:xfrm>
              <a:off x="1494473" y="2674321"/>
              <a:ext cx="4586287" cy="995226"/>
              <a:chOff x="109538" y="2329271"/>
              <a:chExt cx="4586287" cy="995226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109538" y="2329271"/>
                <a:ext cx="200215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fr-FR" sz="1400" b="1" i="1" dirty="0">
                    <a:solidFill>
                      <a:schemeClr val="tx2">
                        <a:lumMod val="75000"/>
                      </a:schemeClr>
                    </a:solidFill>
                    <a:latin typeface="DO-Sans" panose="00000500000000000000" pitchFamily="50" charset="0"/>
                  </a:rPr>
                  <a:t>O</a:t>
                </a:r>
                <a:r>
                  <a:rPr sz="1400" b="1" i="1" dirty="0" err="1">
                    <a:solidFill>
                      <a:schemeClr val="tx2">
                        <a:lumMod val="75000"/>
                      </a:schemeClr>
                    </a:solidFill>
                    <a:latin typeface="DO-Sans" panose="00000500000000000000" pitchFamily="50" charset="0"/>
                  </a:rPr>
                  <a:t>bjective</a:t>
                </a:r>
                <a:r>
                  <a:rPr sz="1400" b="1" i="1" dirty="0">
                    <a:solidFill>
                      <a:schemeClr val="tx2">
                        <a:lumMod val="75000"/>
                      </a:schemeClr>
                    </a:solidFill>
                    <a:latin typeface="DO-Sans" panose="00000500000000000000" pitchFamily="50" charset="0"/>
                  </a:rPr>
                  <a:t> Function:</a:t>
                </a:r>
              </a:p>
            </p:txBody>
          </p:sp>
          <p:pic>
            <p:nvPicPr>
              <p:cNvPr id="23" name="Image 22">
                <a:extLst>
                  <a:ext uri="{FF2B5EF4-FFF2-40B4-BE49-F238E27FC236}">
                    <a16:creationId xmlns:a16="http://schemas.microsoft.com/office/drawing/2014/main" id="{96A95B6F-C812-728C-24ED-300C75A958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25040" y="2569392"/>
                <a:ext cx="2470785" cy="755105"/>
              </a:xfrm>
              <a:prstGeom prst="rect">
                <a:avLst/>
              </a:prstGeom>
            </p:spPr>
          </p:pic>
        </p:grp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22088255-E6DB-C0E5-83F1-9283A382E6CB}"/>
                </a:ext>
              </a:extLst>
            </p:cNvPr>
            <p:cNvSpPr txBox="1"/>
            <p:nvPr/>
          </p:nvSpPr>
          <p:spPr>
            <a:xfrm>
              <a:off x="3527109" y="3789699"/>
              <a:ext cx="287369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solidFill>
                    <a:schemeClr val="tx2">
                      <a:lumMod val="75000"/>
                    </a:schemeClr>
                  </a:solidFill>
                  <a:latin typeface="DO-Sans" panose="00000500000000000000" pitchFamily="50" charset="0"/>
                </a:rPr>
                <a:t>average normalized absolute error</a:t>
              </a:r>
            </a:p>
          </p:txBody>
        </p:sp>
      </p:grp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EF158F91-3BCA-6DF6-370E-8896BF655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Feature Extraction &amp; AI-LR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1612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0" i="1" dirty="0" err="1">
                <a:solidFill>
                  <a:srgbClr val="F0F3F4"/>
                </a:solidFill>
              </a:rPr>
              <a:t>Features</a:t>
            </a:r>
            <a:r>
              <a:rPr lang="fr-FR" sz="1600" b="0" i="1" dirty="0">
                <a:solidFill>
                  <a:srgbClr val="F0F3F4"/>
                </a:solidFill>
              </a:rPr>
              <a:t>  and </a:t>
            </a:r>
            <a:r>
              <a:rPr sz="1600" b="0" i="1" dirty="0">
                <a:solidFill>
                  <a:srgbClr val="F0F3F4"/>
                </a:solidFill>
              </a:rPr>
              <a:t> asymmetry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0055" y="1600014"/>
            <a:ext cx="63093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700" b="1" dirty="0">
                <a:solidFill>
                  <a:srgbClr val="2E86AB"/>
                </a:solidFill>
                <a:latin typeface="DO-Sans" panose="00000500000000000000" pitchFamily="50" charset="0"/>
              </a:rPr>
              <a:t>From gait cycles to features:</a:t>
            </a:r>
            <a:endParaRPr lang="fr-FR" sz="1700" b="1" dirty="0">
              <a:solidFill>
                <a:srgbClr val="2E86AB"/>
              </a:solidFill>
              <a:latin typeface="DO-Sans" panose="00000500000000000000" pitchFamily="50" charset="0"/>
            </a:endParaRPr>
          </a:p>
          <a:p>
            <a:pPr algn="l"/>
            <a:endParaRPr sz="1700" b="1" dirty="0">
              <a:solidFill>
                <a:srgbClr val="2E86AB"/>
              </a:solidFill>
              <a:latin typeface="DO-Sans" panose="00000500000000000000" pitchFamily="50" charset="0"/>
            </a:endParaRPr>
          </a:p>
          <a:p>
            <a:pPr algn="l"/>
            <a:r>
              <a:rPr sz="1500" dirty="0">
                <a:solidFill>
                  <a:srgbClr val="1A2744"/>
                </a:solidFill>
                <a:latin typeface="DO-Sans" panose="00000500000000000000" pitchFamily="50" charset="0"/>
              </a:rPr>
              <a:t>  • From segmented gait cycles: </a:t>
            </a:r>
            <a:r>
              <a:rPr sz="1500" b="1" dirty="0">
                <a:solidFill>
                  <a:srgbClr val="1A2744"/>
                </a:solidFill>
                <a:latin typeface="DO-Sans" panose="00000500000000000000" pitchFamily="50" charset="0"/>
              </a:rPr>
              <a:t>hip, knee, ankle angles</a:t>
            </a:r>
          </a:p>
          <a:p>
            <a:pPr algn="l"/>
            <a:r>
              <a:rPr sz="1500" dirty="0">
                <a:solidFill>
                  <a:srgbClr val="1A2744"/>
                </a:solidFill>
                <a:latin typeface="DO-Sans" panose="00000500000000000000" pitchFamily="50" charset="0"/>
              </a:rPr>
              <a:t>  • Spatiotemporal: </a:t>
            </a:r>
            <a:r>
              <a:rPr sz="1500" b="1" dirty="0">
                <a:solidFill>
                  <a:srgbClr val="1A2744"/>
                </a:solidFill>
                <a:latin typeface="DO-Sans" panose="00000500000000000000" pitchFamily="50" charset="0"/>
              </a:rPr>
              <a:t>stride length/time, swing%, stance%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33DEE875-554B-AB9A-9CCE-88B2ACC33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393" y="3210791"/>
            <a:ext cx="2171394" cy="821304"/>
          </a:xfrm>
          <a:prstGeom prst="rect">
            <a:avLst/>
          </a:prstGeom>
          <a:ln w="19050">
            <a:solidFill>
              <a:schemeClr val="accent1">
                <a:lumMod val="75000"/>
              </a:schemeClr>
            </a:solidFill>
            <a:prstDash val="dash"/>
          </a:ln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639FB5F1-286D-1EA4-0716-4021723FFE53}"/>
              </a:ext>
            </a:extLst>
          </p:cNvPr>
          <p:cNvSpPr txBox="1"/>
          <p:nvPr/>
        </p:nvSpPr>
        <p:spPr>
          <a:xfrm>
            <a:off x="695960" y="4613947"/>
            <a:ext cx="48343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DO-Sans" panose="00000500000000000000" pitchFamily="50" charset="0"/>
              </a:rPr>
              <a:t>5 spatiotemporal features × 2 sides → 5 AI-LR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DO-Sans" panose="00000500000000000000" pitchFamily="50" charset="0"/>
              </a:rPr>
              <a:t>3 joints × 4 angle metrics × 2 sides → 12 AI-LR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2">
                    <a:lumMod val="50000"/>
                  </a:schemeClr>
                </a:solidFill>
                <a:latin typeface="DO-Sans" panose="00000500000000000000" pitchFamily="50" charset="0"/>
              </a:rPr>
              <a:t>walkingSpeed</a:t>
            </a:r>
            <a:r>
              <a:rPr lang="en-US" sz="1600" dirty="0">
                <a:solidFill>
                  <a:schemeClr val="tx2">
                    <a:lumMod val="50000"/>
                  </a:schemeClr>
                </a:solidFill>
                <a:latin typeface="DO-Sans" panose="00000500000000000000" pitchFamily="50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2">
                  <a:lumMod val="50000"/>
                </a:schemeClr>
              </a:solidFill>
              <a:latin typeface="DO-Sans" panose="00000500000000000000" pitchFamily="50" charset="0"/>
            </a:endParaRPr>
          </a:p>
          <a:p>
            <a:pPr algn="ctr"/>
            <a:r>
              <a:rPr lang="en-US" sz="1600" u="sng" dirty="0">
                <a:solidFill>
                  <a:schemeClr val="tx2">
                    <a:lumMod val="50000"/>
                  </a:schemeClr>
                </a:solidFill>
                <a:latin typeface="DO-Sans" panose="00000500000000000000" pitchFamily="50" charset="0"/>
              </a:rPr>
              <a:t>18 features total fed to classifier</a:t>
            </a:r>
          </a:p>
        </p:txBody>
      </p:sp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67F746D1-3E32-5876-2816-5F1A9015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21C84E65-F37F-D6FA-DFAB-9178A0F1B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065" y="1957316"/>
            <a:ext cx="5536745" cy="39800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Classification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1612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rgbClr val="F0F3F4"/>
                </a:solidFill>
              </a:rPr>
              <a:t>LOSO-CV with within-fold Mann-Whitney feature selection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2775A621-FC51-B43D-D1F4-494AA805D33F}"/>
              </a:ext>
            </a:extLst>
          </p:cNvPr>
          <p:cNvGrpSpPr/>
          <p:nvPr/>
        </p:nvGrpSpPr>
        <p:grpSpPr>
          <a:xfrm>
            <a:off x="5852160" y="1435608"/>
            <a:ext cx="6035040" cy="5120640"/>
            <a:chOff x="182880" y="1280160"/>
            <a:chExt cx="6035040" cy="5120640"/>
          </a:xfrm>
        </p:grpSpPr>
        <p:sp>
          <p:nvSpPr>
            <p:cNvPr id="5" name="Rectangle 4"/>
            <p:cNvSpPr/>
            <p:nvPr/>
          </p:nvSpPr>
          <p:spPr>
            <a:xfrm>
              <a:off x="182880" y="1280160"/>
              <a:ext cx="6035040" cy="5120640"/>
            </a:xfrm>
            <a:prstGeom prst="rect">
              <a:avLst/>
            </a:prstGeom>
            <a:solidFill>
              <a:srgbClr val="F0F3F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65760" y="1495603"/>
              <a:ext cx="5669280" cy="44550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lvl="0" indent="-2857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E86AB"/>
                  </a:solidFill>
                  <a:effectLst/>
                  <a:uLnTx/>
                  <a:uFillTx/>
                  <a:latin typeface="DO-Sans" panose="00000500000000000000" pitchFamily="50" charset="0"/>
                  <a:ea typeface="+mn-ea"/>
                  <a:cs typeface="+mn-cs"/>
                </a:rPr>
                <a:t>Leave-One-Subject-Out CV (LOSO-CV)</a:t>
              </a:r>
            </a:p>
            <a:p>
              <a:endParaRPr lang="fr-FR" sz="1600" b="0" i="0" dirty="0">
                <a:solidFill>
                  <a:srgbClr val="1A2744"/>
                </a:solidFill>
                <a:latin typeface="DO-Sans" panose="00000500000000000000" pitchFamily="50" charset="0"/>
              </a:endParaRP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b="0" i="0" dirty="0">
                  <a:solidFill>
                    <a:srgbClr val="1A2744"/>
                  </a:solidFill>
                  <a:latin typeface="DO-Sans" panose="00000500000000000000" pitchFamily="50" charset="0"/>
                </a:rPr>
                <a:t>Hold out 1 patient as test set</a:t>
              </a:r>
              <a:endParaRPr lang="fr-FR" b="0" i="0" dirty="0">
                <a:solidFill>
                  <a:srgbClr val="1A2744"/>
                </a:solidFill>
                <a:latin typeface="DO-Sans" panose="00000500000000000000" pitchFamily="50" charset="0"/>
              </a:endParaRP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en-US" dirty="0">
                  <a:solidFill>
                    <a:srgbClr val="1A2744"/>
                  </a:solidFill>
                  <a:latin typeface="DO-Sans" panose="00000500000000000000" pitchFamily="50" charset="0"/>
                </a:rPr>
                <a:t>Rank 18 AI-LR features by Mann-Whitney U (training only)</a:t>
              </a: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en-US" b="1" i="1" u="sng" dirty="0">
                  <a:solidFill>
                    <a:srgbClr val="2E86AB"/>
                  </a:solidFill>
                  <a:latin typeface="DO-Sans" panose="00000500000000000000" pitchFamily="50" charset="0"/>
                </a:rPr>
                <a:t>Select top k = 2 features</a:t>
              </a: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en-US" dirty="0">
                  <a:solidFill>
                    <a:srgbClr val="1A2744"/>
                  </a:solidFill>
                  <a:latin typeface="DO-Sans" panose="00000500000000000000" pitchFamily="50" charset="0"/>
                </a:rPr>
                <a:t>Train classifier on 25 patients (k=2 features)</a:t>
              </a: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en-US" dirty="0">
                  <a:solidFill>
                    <a:srgbClr val="1A2744"/>
                  </a:solidFill>
                  <a:latin typeface="DO-Sans" panose="00000500000000000000" pitchFamily="50" charset="0"/>
                </a:rPr>
                <a:t>Predict held-out patient</a:t>
              </a:r>
            </a:p>
            <a:p>
              <a:pPr marL="342900" indent="-342900">
                <a:lnSpc>
                  <a:spcPct val="200000"/>
                </a:lnSpc>
                <a:buFont typeface="+mj-lt"/>
                <a:buAutoNum type="arabicPeriod"/>
              </a:pPr>
              <a:r>
                <a:rPr lang="en-US" dirty="0">
                  <a:solidFill>
                    <a:srgbClr val="1A2744"/>
                  </a:solidFill>
                  <a:latin typeface="DO-Sans" panose="00000500000000000000" pitchFamily="50" charset="0"/>
                </a:rPr>
                <a:t>Repeat 26×  →  aggregate metrics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20040" y="5956278"/>
              <a:ext cx="5760720" cy="384048"/>
            </a:xfrm>
            <a:prstGeom prst="rect">
              <a:avLst/>
            </a:prstGeom>
            <a:solidFill>
              <a:srgbClr val="27AE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11480" y="5983710"/>
              <a:ext cx="5669280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i="0" dirty="0">
                  <a:solidFill>
                    <a:srgbClr val="FFFFFF"/>
                  </a:solidFill>
                  <a:latin typeface="Helvetica" panose="020B0604020202020204" pitchFamily="2" charset="0"/>
                </a:rPr>
                <a:t>★  No data leakage: feature selection is performed inside the fold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89478" y="5242618"/>
            <a:ext cx="54864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600" b="1" dirty="0">
                <a:solidFill>
                  <a:srgbClr val="2E86AB"/>
                </a:solidFill>
                <a:latin typeface="DO-Sans" panose="00000500000000000000" pitchFamily="50" charset="0"/>
              </a:rPr>
              <a:t>Classifiers evaluated:</a:t>
            </a:r>
          </a:p>
          <a:p>
            <a:pPr lvl="1"/>
            <a:r>
              <a:rPr sz="1500" dirty="0">
                <a:solidFill>
                  <a:srgbClr val="1A2744"/>
                </a:solidFill>
                <a:latin typeface="DO-Sans" panose="00000500000000000000" pitchFamily="50" charset="0"/>
              </a:rPr>
              <a:t>  • Logistic Regression (linear)</a:t>
            </a:r>
          </a:p>
          <a:p>
            <a:pPr lvl="1"/>
            <a:r>
              <a:rPr sz="1500" dirty="0">
                <a:solidFill>
                  <a:srgbClr val="1A2744"/>
                </a:solidFill>
                <a:latin typeface="DO-Sans" panose="00000500000000000000" pitchFamily="50" charset="0"/>
              </a:rPr>
              <a:t>  • SVM Linear (linear)</a:t>
            </a:r>
          </a:p>
          <a:p>
            <a:pPr lvl="1"/>
            <a:r>
              <a:rPr sz="1500" dirty="0">
                <a:solidFill>
                  <a:srgbClr val="1A2744"/>
                </a:solidFill>
                <a:latin typeface="DO-Sans" panose="00000500000000000000" pitchFamily="50" charset="0"/>
              </a:rPr>
              <a:t>  • Random Forest (non-linear ensemble)</a:t>
            </a:r>
          </a:p>
          <a:p>
            <a:pPr lvl="1"/>
            <a:r>
              <a:rPr sz="1500" dirty="0">
                <a:solidFill>
                  <a:srgbClr val="1A2744"/>
                </a:solidFill>
                <a:latin typeface="DO-Sans" panose="00000500000000000000" pitchFamily="50" charset="0"/>
              </a:rPr>
              <a:t>  • Gaussian Naive Bayes (probabilistic)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CAEF9352-AF8B-A526-DA6F-EA5E3939814C}"/>
              </a:ext>
            </a:extLst>
          </p:cNvPr>
          <p:cNvGrpSpPr/>
          <p:nvPr/>
        </p:nvGrpSpPr>
        <p:grpSpPr>
          <a:xfrm>
            <a:off x="169429" y="1339878"/>
            <a:ext cx="5689329" cy="3675734"/>
            <a:chOff x="169429" y="1339878"/>
            <a:chExt cx="5689329" cy="3675734"/>
          </a:xfrm>
        </p:grpSpPr>
        <p:sp>
          <p:nvSpPr>
            <p:cNvPr id="16" name="TextBox 15"/>
            <p:cNvSpPr txBox="1"/>
            <p:nvPr/>
          </p:nvSpPr>
          <p:spPr>
            <a:xfrm>
              <a:off x="182753" y="1339878"/>
              <a:ext cx="5676005" cy="10310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l">
                <a:buFont typeface="Wingdings" panose="05000000000000000000" pitchFamily="2" charset="2"/>
                <a:buChar char="§"/>
              </a:pPr>
              <a:r>
                <a:rPr sz="1600" b="1" dirty="0">
                  <a:solidFill>
                    <a:srgbClr val="2E86AB"/>
                  </a:solidFill>
                  <a:latin typeface="DO-Sans" panose="00000500000000000000" pitchFamily="50" charset="0"/>
                </a:rPr>
                <a:t>Dataset &amp; metrics:</a:t>
              </a:r>
            </a:p>
            <a:p>
              <a:pPr lvl="1"/>
              <a:r>
                <a:rPr sz="1500" dirty="0">
                  <a:solidFill>
                    <a:srgbClr val="1A2744"/>
                  </a:solidFill>
                  <a:latin typeface="DO-Sans" panose="00000500000000000000" pitchFamily="50" charset="0"/>
                </a:rPr>
                <a:t>  • N = 26 patients  (18 left-paretic, 8 right-paretic)</a:t>
              </a:r>
            </a:p>
            <a:p>
              <a:pPr lvl="1"/>
              <a:r>
                <a:rPr sz="1500" dirty="0">
                  <a:solidFill>
                    <a:srgbClr val="1A2744"/>
                  </a:solidFill>
                  <a:latin typeface="DO-Sans" panose="00000500000000000000" pitchFamily="50" charset="0"/>
                </a:rPr>
                <a:t>  • Balanced class weighting to mitigate imbalance</a:t>
              </a:r>
            </a:p>
            <a:p>
              <a:pPr lvl="1"/>
              <a:r>
                <a:rPr sz="1500" dirty="0">
                  <a:solidFill>
                    <a:srgbClr val="1A2744"/>
                  </a:solidFill>
                  <a:latin typeface="DO-Sans" panose="00000500000000000000" pitchFamily="50" charset="0"/>
                </a:rPr>
                <a:t>  • Metrics: balanced accuracy, MCC, AUC</a:t>
              </a:r>
            </a:p>
          </p:txBody>
        </p:sp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FD02A5BD-B2F0-2C7B-C8AB-70C8EEF90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9429" y="2567807"/>
              <a:ext cx="5499851" cy="2447805"/>
            </a:xfrm>
            <a:prstGeom prst="rect">
              <a:avLst/>
            </a:prstGeom>
          </p:spPr>
        </p:pic>
      </p:grpSp>
      <p:sp>
        <p:nvSpPr>
          <p:cNvPr id="22" name="Espace réservé du numéro de diapositive 21">
            <a:extLst>
              <a:ext uri="{FF2B5EF4-FFF2-40B4-BE49-F238E27FC236}">
                <a16:creationId xmlns:a16="http://schemas.microsoft.com/office/drawing/2014/main" id="{BB6031F0-4023-F115-B178-9C814C377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80834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Feature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1612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rgbClr val="F0F3F4"/>
                </a:solidFill>
              </a:rPr>
              <a:t>Discriminant power of AI-LR indices — Mann-Whitney U test, N=26</a:t>
            </a:r>
          </a:p>
        </p:txBody>
      </p:sp>
      <p:pic>
        <p:nvPicPr>
          <p:cNvPr id="5" name="Picture 4" descr="feature_statistics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14" y="1435608"/>
            <a:ext cx="5250659" cy="4860153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DAA06C6B-EFBD-F51A-28DF-1E48A1E2E94A}"/>
              </a:ext>
            </a:extLst>
          </p:cNvPr>
          <p:cNvSpPr txBox="1"/>
          <p:nvPr/>
        </p:nvSpPr>
        <p:spPr>
          <a:xfrm>
            <a:off x="6119957" y="3088607"/>
            <a:ext cx="6068867" cy="130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O-Sans" panose="00000500000000000000" pitchFamily="50" charset="0"/>
              </a:rPr>
              <a:t>Top 4 features are kinematic (ankle/knee swing angles)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O-Sans" panose="00000500000000000000" pitchFamily="50" charset="0"/>
              </a:rPr>
              <a:t>all statistically significant (p &lt; 0.05).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O-Sans" panose="00000500000000000000" pitchFamily="50" charset="0"/>
              </a:rPr>
              <a:t>Spatiotemporal features are weaker discriminators.</a:t>
            </a:r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8D4133F1-F3A9-8E27-622F-D61216C8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Two Features — Near-Perfect Separation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1612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rgbClr val="F0F3F4"/>
                </a:solidFill>
              </a:rPr>
              <a:t>AI-LR distributions for left-paretic vs. right-paretic groups</a:t>
            </a:r>
          </a:p>
        </p:txBody>
      </p:sp>
      <p:pic>
        <p:nvPicPr>
          <p:cNvPr id="5" name="Picture 4" descr="top_feature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346" y="1661650"/>
            <a:ext cx="8246828" cy="4126502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7A090E9-3365-08BA-C0CC-1E8676778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50038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Feature Count Sweep — Why k = 2?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1612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rgbClr val="F0F3F4"/>
                </a:solidFill>
              </a:rPr>
              <a:t>Balanced accuracy vs. number of features selected per fold (k = 1..18)</a:t>
            </a:r>
          </a:p>
        </p:txBody>
      </p:sp>
      <p:pic>
        <p:nvPicPr>
          <p:cNvPr id="5" name="Picture 4" descr="feature_selection_frequ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0038" y="1988899"/>
            <a:ext cx="6468748" cy="35901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172200"/>
            <a:ext cx="11612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1A2744"/>
                </a:solidFill>
              </a:rPr>
              <a:t>M</a:t>
            </a:r>
            <a:r>
              <a:rPr sz="1400" b="1" i="0" dirty="0" err="1">
                <a:solidFill>
                  <a:srgbClr val="1A2744"/>
                </a:solidFill>
              </a:rPr>
              <a:t>odels</a:t>
            </a:r>
            <a:r>
              <a:rPr sz="1400" b="1" i="0" dirty="0">
                <a:solidFill>
                  <a:srgbClr val="1A2744"/>
                </a:solidFill>
              </a:rPr>
              <a:t> peak at k = 2  and degrade monotonically →  laterality signal concentrated in 2 features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353972C9-56DC-DE65-C211-DAE3C4D41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79977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Classification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1612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rgbClr val="F0F3F4"/>
                </a:solidFill>
              </a:rPr>
              <a:t>LOSO-CV performance — N=26 patients, k=2 features (Mann-Whitney within fold)</a:t>
            </a:r>
          </a:p>
        </p:txBody>
      </p:sp>
      <p:pic>
        <p:nvPicPr>
          <p:cNvPr id="55" name="Picture 54" descr="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773" y="1212065"/>
            <a:ext cx="4607617" cy="2611876"/>
          </a:xfrm>
          <a:prstGeom prst="rect">
            <a:avLst/>
          </a:prstGeom>
        </p:spPr>
      </p:pic>
      <p:grpSp>
        <p:nvGrpSpPr>
          <p:cNvPr id="61" name="Groupe 60">
            <a:extLst>
              <a:ext uri="{FF2B5EF4-FFF2-40B4-BE49-F238E27FC236}">
                <a16:creationId xmlns:a16="http://schemas.microsoft.com/office/drawing/2014/main" id="{B4E371B8-CE7E-1B70-76B3-CE1D2B2BA9C5}"/>
              </a:ext>
            </a:extLst>
          </p:cNvPr>
          <p:cNvGrpSpPr/>
          <p:nvPr/>
        </p:nvGrpSpPr>
        <p:grpSpPr>
          <a:xfrm>
            <a:off x="8511016" y="4852983"/>
            <a:ext cx="2080170" cy="1164535"/>
            <a:chOff x="7988621" y="4689117"/>
            <a:chExt cx="2589740" cy="1278835"/>
          </a:xfrm>
        </p:grpSpPr>
        <p:sp>
          <p:nvSpPr>
            <p:cNvPr id="56" name="Rectangle 55"/>
            <p:cNvSpPr/>
            <p:nvPr/>
          </p:nvSpPr>
          <p:spPr>
            <a:xfrm>
              <a:off x="8169513" y="4689117"/>
              <a:ext cx="2107096" cy="1278835"/>
            </a:xfrm>
            <a:prstGeom prst="rect">
              <a:avLst/>
            </a:prstGeom>
            <a:solidFill>
              <a:srgbClr val="1A274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018041" y="4803417"/>
              <a:ext cx="2560320" cy="5745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800" b="1" i="0" dirty="0">
                  <a:solidFill>
                    <a:srgbClr val="FFFFFF"/>
                  </a:solidFill>
                  <a:latin typeface="Arial Black" panose="020B0A04020102020204" pitchFamily="34" charset="0"/>
                </a:rPr>
                <a:t>94.4%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988621" y="5263434"/>
              <a:ext cx="2560320" cy="5745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0" i="0" dirty="0">
                  <a:solidFill>
                    <a:srgbClr val="F0F3F4"/>
                  </a:solidFill>
                  <a:latin typeface="DO-Sans" panose="00000500000000000000" pitchFamily="50" charset="0"/>
                </a:rPr>
                <a:t>Balanced
Accuracy</a:t>
              </a: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6655451" y="3964774"/>
            <a:ext cx="569421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 dirty="0">
                <a:solidFill>
                  <a:srgbClr val="1A2744"/>
                </a:solidFill>
              </a:rPr>
              <a:t>AI-LR space is highly linearly separable</a:t>
            </a:r>
          </a:p>
        </p:txBody>
      </p:sp>
      <p:pic>
        <p:nvPicPr>
          <p:cNvPr id="60" name="Image 59">
            <a:extLst>
              <a:ext uri="{FF2B5EF4-FFF2-40B4-BE49-F238E27FC236}">
                <a16:creationId xmlns:a16="http://schemas.microsoft.com/office/drawing/2014/main" id="{C068252C-F183-C883-FC97-09BC06958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871" y="2619295"/>
            <a:ext cx="6334539" cy="2809124"/>
          </a:xfrm>
          <a:prstGeom prst="rect">
            <a:avLst/>
          </a:prstGeom>
        </p:spPr>
      </p:pic>
      <p:sp>
        <p:nvSpPr>
          <p:cNvPr id="63" name="Espace réservé du numéro de diapositive 62">
            <a:extLst>
              <a:ext uri="{FF2B5EF4-FFF2-40B4-BE49-F238E27FC236}">
                <a16:creationId xmlns:a16="http://schemas.microsoft.com/office/drawing/2014/main" id="{B499F922-2185-DCEA-F6EC-63AEB57B7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Permutation Test — Statistical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rgbClr val="F0F3F4"/>
                </a:solidFill>
              </a:rPr>
              <a:t>n = 200 label shuffles under identical LOSO-CV loop</a:t>
            </a:r>
          </a:p>
        </p:txBody>
      </p:sp>
      <p:pic>
        <p:nvPicPr>
          <p:cNvPr id="6" name="Picture 5" descr="permutation_test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763972"/>
            <a:ext cx="5669280" cy="37498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64081" y="5881151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chemeClr val="tx2">
                    <a:lumMod val="50000"/>
                  </a:schemeClr>
                </a:solidFill>
              </a:rPr>
              <a:t>k = 2 (top features):  p &lt; 0.0001  ✓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7656292B-B4A4-6D27-FA93-D15C9546E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1612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rgbClr val="F0F3F4"/>
                </a:solidFill>
              </a:rPr>
              <a:t>Clinical interpretation and engineering implications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7D8D9593-A682-0AE3-9C86-69EDF624C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D44415E-5921-5E8E-EC49-2E880860CA15}"/>
              </a:ext>
            </a:extLst>
          </p:cNvPr>
          <p:cNvSpPr txBox="1"/>
          <p:nvPr/>
        </p:nvSpPr>
        <p:spPr>
          <a:xfrm>
            <a:off x="641119" y="2274838"/>
            <a:ext cx="514661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2000" b="1" i="0" dirty="0">
                <a:solidFill>
                  <a:schemeClr val="accent1">
                    <a:lumMod val="75000"/>
                  </a:schemeClr>
                </a:solidFill>
                <a:effectLst/>
                <a:latin typeface="DO-Sans" panose="00000500000000000000" pitchFamily="50" charset="0"/>
              </a:rPr>
              <a:t>Clinical Alignment: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b="0" i="0" dirty="0">
              <a:solidFill>
                <a:schemeClr val="accent1">
                  <a:lumMod val="75000"/>
                </a:schemeClr>
              </a:solidFill>
              <a:effectLst/>
              <a:latin typeface="DO-Sans" panose="00000500000000000000" pitchFamily="50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DO-Sans" panose="00000500000000000000" pitchFamily="50" charset="0"/>
              </a:rPr>
              <a:t>Drop foot + stiff-knee gait: the 2 primary</a:t>
            </a:r>
            <a:r>
              <a:rPr lang="en-US" sz="1600" dirty="0">
                <a:latin typeface="DO-Sans" panose="00000500000000000000" pitchFamily="50" charset="0"/>
              </a:rPr>
              <a:t> </a:t>
            </a:r>
            <a:r>
              <a:rPr lang="en-US" sz="1600" b="0" i="0" dirty="0">
                <a:effectLst/>
                <a:latin typeface="DO-Sans" panose="00000500000000000000" pitchFamily="50" charset="0"/>
              </a:rPr>
              <a:t>marks of hemiparesis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DO-Sans" panose="00000500000000000000" pitchFamily="50" charset="0"/>
              </a:rPr>
              <a:t>Data-driven analysis identified known clinical markers automatically.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DO-Sans" panose="00000500000000000000" pitchFamily="50" charset="0"/>
              </a:rPr>
              <a:t>AI-LR maps complex deficits onto a simple 2-feature linear model.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A2AFADD-60CC-A09E-035B-1693CB900B8B}"/>
              </a:ext>
            </a:extLst>
          </p:cNvPr>
          <p:cNvSpPr txBox="1"/>
          <p:nvPr/>
        </p:nvSpPr>
        <p:spPr>
          <a:xfrm>
            <a:off x="6268316" y="2217443"/>
            <a:ext cx="4870739" cy="2304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b="1" i="0" dirty="0">
                <a:solidFill>
                  <a:schemeClr val="accent1">
                    <a:lumMod val="75000"/>
                  </a:schemeClr>
                </a:solidFill>
                <a:effectLst/>
                <a:latin typeface="DO-Sans" panose="00000500000000000000" pitchFamily="50" charset="0"/>
              </a:rPr>
              <a:t>Engineering Implications: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b="0" i="0" dirty="0">
              <a:solidFill>
                <a:schemeClr val="accent1">
                  <a:lumMod val="75000"/>
                </a:schemeClr>
              </a:solidFill>
              <a:effectLst/>
              <a:latin typeface="DO-Sans" panose="00000500000000000000" pitchFamily="50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DO-Sans" panose="00000500000000000000" pitchFamily="50" charset="0"/>
              </a:rPr>
              <a:t>Linear, 2-feature decision → embeddable on wearable microcontrollers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DO-Sans" panose="00000500000000000000" pitchFamily="50" charset="0"/>
              </a:rPr>
              <a:t>Potential perception front-end for exoskeleton assist-as-needed control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</a:rPr>
              <a:t>Conclusion &amp; Future Work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BD907E17-34DB-D4A8-766E-B24F0669F037}"/>
              </a:ext>
            </a:extLst>
          </p:cNvPr>
          <p:cNvGrpSpPr/>
          <p:nvPr/>
        </p:nvGrpSpPr>
        <p:grpSpPr>
          <a:xfrm>
            <a:off x="274320" y="1531665"/>
            <a:ext cx="11380412" cy="2479271"/>
            <a:chOff x="274320" y="1188720"/>
            <a:chExt cx="11380412" cy="2479271"/>
          </a:xfrm>
        </p:grpSpPr>
        <p:sp>
          <p:nvSpPr>
            <p:cNvPr id="4" name="Rectangle 3"/>
            <p:cNvSpPr/>
            <p:nvPr/>
          </p:nvSpPr>
          <p:spPr>
            <a:xfrm>
              <a:off x="274320" y="1188720"/>
              <a:ext cx="11380412" cy="2479271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DO-Sans" panose="00000500000000000000" pitchFamily="50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34093" y="1405882"/>
              <a:ext cx="704088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l">
                <a:buFont typeface="Wingdings" panose="05000000000000000000" pitchFamily="2" charset="2"/>
                <a:buChar char="§"/>
              </a:pPr>
              <a:r>
                <a:rPr sz="2000" b="1" i="0" dirty="0">
                  <a:solidFill>
                    <a:schemeClr val="accent6"/>
                  </a:solidFill>
                  <a:latin typeface="DO-Sans" panose="00000500000000000000" pitchFamily="50" charset="0"/>
                </a:rPr>
                <a:t>Contributions</a:t>
              </a:r>
              <a:endParaRPr b="1" i="0" dirty="0">
                <a:solidFill>
                  <a:schemeClr val="accent6"/>
                </a:solidFill>
                <a:latin typeface="DO-Sans" panose="00000500000000000000" pitchFamily="50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35182" y="1677114"/>
              <a:ext cx="7040880" cy="17620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200000"/>
                </a:lnSpc>
              </a:pPr>
              <a:r>
                <a:rPr sz="1400" b="0" i="0" dirty="0">
                  <a:solidFill>
                    <a:srgbClr val="FFFFFF"/>
                  </a:solidFill>
                  <a:latin typeface="DO-Sans" panose="00000500000000000000" pitchFamily="50" charset="0"/>
                </a:rPr>
                <a:t>✓ FSM swing detector — handles foot drag and stiff-knee patterns</a:t>
              </a:r>
              <a:endParaRPr lang="fr-FR" sz="1400" b="0" i="0" dirty="0">
                <a:solidFill>
                  <a:srgbClr val="FFFFFF"/>
                </a:solidFill>
                <a:latin typeface="DO-Sans" panose="00000500000000000000" pitchFamily="50" charset="0"/>
              </a:endParaRPr>
            </a:p>
            <a:p>
              <a:pPr>
                <a:lnSpc>
                  <a:spcPct val="200000"/>
                </a:lnSpc>
              </a:pPr>
              <a:r>
                <a:rPr lang="en-US" sz="1400" dirty="0">
                  <a:solidFill>
                    <a:srgbClr val="FFFFFF"/>
                  </a:solidFill>
                  <a:latin typeface="DO-Sans" panose="00000500000000000000" pitchFamily="50" charset="0"/>
                </a:rPr>
                <a:t>✓ Subject-specific calibration via Nelder-Mead optimization</a:t>
              </a:r>
            </a:p>
            <a:p>
              <a:pPr>
                <a:lnSpc>
                  <a:spcPct val="200000"/>
                </a:lnSpc>
              </a:pPr>
              <a:r>
                <a:rPr lang="en-US" sz="1400" dirty="0">
                  <a:solidFill>
                    <a:srgbClr val="FFFFFF"/>
                  </a:solidFill>
                  <a:latin typeface="DO-Sans" panose="00000500000000000000" pitchFamily="50" charset="0"/>
                </a:rPr>
                <a:t>✓  AI-LR feature space — laterally signed and physically interpretable</a:t>
              </a:r>
            </a:p>
            <a:p>
              <a:pPr>
                <a:lnSpc>
                  <a:spcPct val="200000"/>
                </a:lnSpc>
              </a:pPr>
              <a:r>
                <a:rPr lang="en-US" sz="1400" dirty="0">
                  <a:solidFill>
                    <a:srgbClr val="FFFFFF"/>
                  </a:solidFill>
                  <a:latin typeface="DO-Sans" panose="00000500000000000000" pitchFamily="50" charset="0"/>
                </a:rPr>
                <a:t>✓  94.4% balanced accuracy with only 2 features</a:t>
              </a:r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1A326BB8-A3D5-BA57-67AF-94E215618374}"/>
              </a:ext>
            </a:extLst>
          </p:cNvPr>
          <p:cNvGrpSpPr/>
          <p:nvPr/>
        </p:nvGrpSpPr>
        <p:grpSpPr>
          <a:xfrm>
            <a:off x="274320" y="4518984"/>
            <a:ext cx="11380412" cy="1088967"/>
            <a:chOff x="274320" y="4800600"/>
            <a:chExt cx="11380412" cy="1088967"/>
          </a:xfrm>
        </p:grpSpPr>
        <p:sp>
          <p:nvSpPr>
            <p:cNvPr id="10" name="Rectangle 9"/>
            <p:cNvSpPr/>
            <p:nvPr/>
          </p:nvSpPr>
          <p:spPr>
            <a:xfrm>
              <a:off x="274320" y="4800600"/>
              <a:ext cx="11380412" cy="1088967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DO-Sans" panose="00000500000000000000" pitchFamily="50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57200" y="4892040"/>
              <a:ext cx="70408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l">
                <a:buFont typeface="Wingdings" panose="05000000000000000000" pitchFamily="2" charset="2"/>
                <a:buChar char="§"/>
              </a:pPr>
              <a:r>
                <a:rPr b="1" i="0" dirty="0">
                  <a:solidFill>
                    <a:schemeClr val="accent6"/>
                  </a:solidFill>
                  <a:latin typeface="DO-Sans" panose="00000500000000000000" pitchFamily="50" charset="0"/>
                </a:rPr>
                <a:t>Future</a:t>
              </a:r>
              <a:r>
                <a:rPr b="1" i="0" dirty="0">
                  <a:solidFill>
                    <a:srgbClr val="F39C12"/>
                  </a:solidFill>
                  <a:latin typeface="DO-Sans" panose="00000500000000000000" pitchFamily="50" charset="0"/>
                </a:rPr>
                <a:t> Work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35182" y="5345083"/>
              <a:ext cx="70408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 algn="l">
                <a:buFont typeface="Wingdings" panose="05000000000000000000" pitchFamily="2" charset="2"/>
                <a:buChar char="§"/>
              </a:pPr>
              <a:r>
                <a:rPr sz="1400" b="0" i="0" dirty="0">
                  <a:solidFill>
                    <a:srgbClr val="F0F3F4"/>
                  </a:solidFill>
                  <a:latin typeface="DO-Sans" panose="00000500000000000000" pitchFamily="50" charset="0"/>
                </a:rPr>
                <a:t>Longitudinal tracking: monitor gait recovery across </a:t>
              </a:r>
              <a:r>
                <a:rPr lang="fr-FR" sz="1400" b="0" i="0" dirty="0">
                  <a:solidFill>
                    <a:srgbClr val="F0F3F4"/>
                  </a:solidFill>
                  <a:latin typeface="DO-Sans" panose="00000500000000000000" pitchFamily="50" charset="0"/>
                </a:rPr>
                <a:t>all session</a:t>
              </a:r>
              <a:endParaRPr sz="1400" b="0" i="0" dirty="0">
                <a:solidFill>
                  <a:srgbClr val="F0F3F4"/>
                </a:solidFill>
                <a:latin typeface="DO-Sans" panose="00000500000000000000" pitchFamily="50" charset="0"/>
              </a:endParaRPr>
            </a:p>
          </p:txBody>
        </p:sp>
      </p:grpSp>
      <p:sp>
        <p:nvSpPr>
          <p:cNvPr id="33" name="Espace réservé du numéro de diapositive 32">
            <a:extLst>
              <a:ext uri="{FF2B5EF4-FFF2-40B4-BE49-F238E27FC236}">
                <a16:creationId xmlns:a16="http://schemas.microsoft.com/office/drawing/2014/main" id="{8CE582AE-28D2-4F9E-BA13-9141BBC65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352" y="6479598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3932</TotalTime>
  <Words>3647</Words>
  <Application>Microsoft Office PowerPoint</Application>
  <PresentationFormat>Personnalisé</PresentationFormat>
  <Paragraphs>473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9" baseType="lpstr">
      <vt:lpstr>Arial</vt:lpstr>
      <vt:lpstr>Arial Black</vt:lpstr>
      <vt:lpstr>Calibri</vt:lpstr>
      <vt:lpstr>Century Gothic</vt:lpstr>
      <vt:lpstr>DO-Sans</vt:lpstr>
      <vt:lpstr>Helvetica</vt:lpstr>
      <vt:lpstr>Tahoma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pc</dc:creator>
  <cp:keywords/>
  <dc:description>generated using python-pptx</dc:description>
  <cp:lastModifiedBy>lina falek</cp:lastModifiedBy>
  <cp:revision>13</cp:revision>
  <dcterms:created xsi:type="dcterms:W3CDTF">2013-01-27T09:14:16Z</dcterms:created>
  <dcterms:modified xsi:type="dcterms:W3CDTF">2026-03-06T14:47:30Z</dcterms:modified>
  <cp:category/>
</cp:coreProperties>
</file>